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4" r:id="rId7"/>
    <p:sldId id="265" r:id="rId8"/>
    <p:sldId id="267" r:id="rId9"/>
    <p:sldId id="26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660"/>
  </p:normalViewPr>
  <p:slideViewPr>
    <p:cSldViewPr snapToGrid="0" snapToObjects="1">
      <p:cViewPr varScale="1">
        <p:scale>
          <a:sx n="68" d="100"/>
          <a:sy n="68" d="100"/>
        </p:scale>
        <p:origin x="96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642" y="97104"/>
            <a:ext cx="4134357" cy="333189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492488"/>
            <a:ext cx="3349751" cy="1411356"/>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4373880" y="0"/>
            <a:ext cx="781812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56644" y="6338703"/>
            <a:ext cx="2196699" cy="365125"/>
          </a:xfrm>
        </p:spPr>
        <p:txBody>
          <a:bodyPr/>
          <a:lstStyle/>
          <a:p>
            <a:endParaRPr lang="en-US"/>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2383669" y="6338703"/>
            <a:ext cx="1392578" cy="365125"/>
          </a:xfrm>
        </p:spPr>
        <p:txBody>
          <a:bodyPr/>
          <a:lstStyle/>
          <a:p>
            <a:fld id="{5BCAD085-E8A6-8845-BD4E-CB4CCA059FC4}" type="datetimeFigureOut">
              <a:rPr lang="en-US" smtClean="0"/>
              <a:t>9/19/2026</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3776247" y="6342301"/>
            <a:ext cx="42920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7525809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709862"/>
            <a:ext cx="10963656" cy="4513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12100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888410" cy="2845567"/>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888410" cy="1123122"/>
          </a:xfrm>
        </p:spPr>
        <p:txBody>
          <a:bodyPr vert="horz" lIns="91440" tIns="45720" rIns="91440" bIns="45720" rtlCol="0">
            <a:normAutofit/>
          </a:bodyPr>
          <a:lstStyle>
            <a:lvl1pPr marL="0" indent="0">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742427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846388" y="6343955"/>
            <a:ext cx="2100482"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767853" y="6343955"/>
            <a:ext cx="1475163" cy="365125"/>
          </a:xfrm>
        </p:spPr>
        <p:txBody>
          <a:bodyPr/>
          <a:lstStyle>
            <a:lvl1pPr>
              <a:defRPr>
                <a:solidFill>
                  <a:schemeClr val="tx1"/>
                </a:solidFill>
                <a:effectLst/>
              </a:defRPr>
            </a:lvl1pPr>
          </a:lstStyle>
          <a:p>
            <a:fld id="{5BCAD085-E8A6-8845-BD4E-CB4CCA059FC4}" type="datetimeFigureOut">
              <a:rPr lang="en-US" smtClean="0"/>
              <a:t>9/19/2026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6066" y="6343955"/>
            <a:ext cx="42920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724761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1143000"/>
            <a:ext cx="8683753" cy="3095149"/>
          </a:xfrm>
        </p:spPr>
        <p:txBody>
          <a:bodyPr vert="horz" lIns="91440" tIns="45720" rIns="91440" bIns="45720" rtlCol="0" anchor="b">
            <a:normAutofit/>
          </a:bodyPr>
          <a:lstStyle>
            <a:lvl1pPr>
              <a:defRPr lang="en-US" sz="6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7" y="4498848"/>
            <a:ext cx="6881457" cy="1014984"/>
          </a:xfrm>
        </p:spPr>
        <p:txBody>
          <a:bodyPr vert="horz" lIns="91440" tIns="45720" rIns="91440" bIns="45720" rtlCol="0">
            <a:normAutofit/>
          </a:bodyPr>
          <a:lstStyle>
            <a:lvl1pPr marL="0" indent="0">
              <a:buNone/>
              <a:defRPr lang="en-US" sz="18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6343955"/>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p:spPr>
        <p:txBody>
          <a:bodyPr/>
          <a:lstStyle/>
          <a:p>
            <a:fld id="{5BCAD085-E8A6-8845-BD4E-CB4CCA059FC4}" type="datetimeFigureOut">
              <a:rPr lang="en-US" smtClean="0"/>
              <a:t>9/19/2026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3268945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AC53C90-8C33-0C80-CBD4-B3BEE604E231}"/>
              </a:ext>
            </a:extLst>
          </p:cNvPr>
          <p:cNvSpPr>
            <a:spLocks noGrp="1"/>
          </p:cNvSpPr>
          <p:nvPr>
            <p:ph type="title"/>
          </p:nvPr>
        </p:nvSpPr>
        <p:spPr>
          <a:xfrm>
            <a:off x="111758" y="1869103"/>
            <a:ext cx="9337042" cy="4906929"/>
          </a:xfrm>
        </p:spPr>
        <p:txBody>
          <a:bodyPr>
            <a:normAutofit/>
          </a:bodyPr>
          <a:lstStyle>
            <a:lvl1pPr>
              <a:defRPr sz="74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lstStyle/>
          <a:p>
            <a:fld id="{5BCAD085-E8A6-8845-BD4E-CB4CCA059FC4}" type="datetimeFigureOut">
              <a:rPr lang="en-US" smtClean="0"/>
              <a:t>9/19/2026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767432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5111" y="105196"/>
            <a:ext cx="9023561" cy="2113392"/>
          </a:xfrm>
        </p:spPr>
        <p:txBody>
          <a:bodyPr anchor="t">
            <a:normAutofit/>
          </a:bodyPr>
          <a:lstStyle>
            <a:lvl1pPr>
              <a:defRPr sz="72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484255"/>
            <a:ext cx="8467558" cy="3539514"/>
          </a:xfrm>
        </p:spPr>
        <p:txBody>
          <a:bodyPr>
            <a:normAutofit/>
          </a:bodyPr>
          <a:lstStyle>
            <a:lvl1pPr marL="457200" indent="-457200">
              <a:buFont typeface="+mj-lt"/>
              <a:buAutoNum type="arabicPeriod"/>
              <a:defRPr sz="1800"/>
            </a:lvl1pPr>
            <a:lvl2pPr marL="685800" indent="-457200">
              <a:buFont typeface="+mj-lt"/>
              <a:buAutoNum type="arabicPeriod"/>
              <a:defRPr sz="16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24998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4641011" y="73742"/>
            <a:ext cx="6863496" cy="2220726"/>
          </a:xfrm>
        </p:spPr>
        <p:txBody>
          <a:bodyPr anchor="t">
            <a:normAutofit/>
          </a:bodyPr>
          <a:lstStyle>
            <a:lvl1pPr>
              <a:defRPr sz="7200"/>
            </a:lvl1pPr>
          </a:lstStyle>
          <a:p>
            <a:r>
              <a:rPr lang="en-US" dirty="0"/>
              <a:t>Agenda</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 y="0"/>
            <a:ext cx="456559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588000" y="2726267"/>
            <a:ext cx="5916507" cy="343678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588000" y="6343955"/>
            <a:ext cx="2985400" cy="365125"/>
          </a:xfrm>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lstStyle/>
          <a:p>
            <a:fld id="{5BCAD085-E8A6-8845-BD4E-CB4CCA059FC4}" type="datetimeFigureOut">
              <a:rPr lang="en-US" smtClean="0"/>
              <a:t>9/19/2026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931580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388700"/>
            <a:ext cx="3923455" cy="408358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1" y="1389134"/>
            <a:ext cx="6045390"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09368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707549"/>
            <a:ext cx="3349754" cy="2721451"/>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8184"/>
            <a:ext cx="69281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04685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612648"/>
            <a:ext cx="6426389" cy="114300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p:spPr>
        <p:txBody>
          <a:bodyPr/>
          <a:lstStyle/>
          <a:p>
            <a:endParaRPr lang="en-US"/>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lstStyle/>
          <a:p>
            <a:fld id="{5BCAD085-E8A6-8845-BD4E-CB4CCA059FC4}" type="datetimeFigureOut">
              <a:rPr lang="en-US" smtClean="0"/>
              <a:t>9/19/2026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7898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474177"/>
            <a:ext cx="6950232"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p:spPr>
        <p:txBody>
          <a:bodyPr/>
          <a:lstStyle/>
          <a:p>
            <a:endParaRPr lang="en-US"/>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lstStyle/>
          <a:p>
            <a:fld id="{5BCAD085-E8A6-8845-BD4E-CB4CCA059FC4}" type="datetimeFigureOut">
              <a:rPr lang="en-US" smtClean="0"/>
              <a:t>9/19/2026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224351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75488"/>
            <a:ext cx="6858000"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lstStyle/>
          <a:p>
            <a:fld id="{5BCAD085-E8A6-8845-BD4E-CB4CCA059FC4}" type="datetimeFigureOut">
              <a:rPr lang="en-US" smtClean="0"/>
              <a:t>9/19/2026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lstStyle/>
          <a:p>
            <a:fld id="{C1FF6DA9-008F-8B48-92A6-B652298478B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1484620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420623"/>
            <a:ext cx="4494189" cy="132588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p:spPr>
        <p:txBody>
          <a:bodyPr/>
          <a:lstStyle/>
          <a:p>
            <a:fld id="{5BCAD085-E8A6-8845-BD4E-CB4CCA059FC4}" type="datetimeFigureOut">
              <a:rPr lang="en-US" smtClean="0"/>
              <a:t>9/19/2026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p:spPr>
        <p:txBody>
          <a:bodyPr/>
          <a:lstStyle>
            <a:lvl1pPr>
              <a:defRPr>
                <a:solidFill>
                  <a:schemeClr val="tx1"/>
                </a:solidFill>
                <a:effectLst/>
              </a:defRPr>
            </a:lvl1pPr>
          </a:lstStyle>
          <a:p>
            <a:fld id="{C1FF6DA9-008F-8B48-92A6-B652298478B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5046747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429768"/>
            <a:ext cx="3657600" cy="1667226"/>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3" y="2315569"/>
            <a:ext cx="3657600" cy="3814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p:spPr>
        <p:txBody>
          <a:bodyPr/>
          <a:lstStyle/>
          <a:p>
            <a:fld id="{5BCAD085-E8A6-8845-BD4E-CB4CCA059FC4}" type="datetimeFigureOut">
              <a:rPr lang="en-US" smtClean="0"/>
              <a:t>9/19/2026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p:spPr>
        <p:txBody>
          <a:bodyPr/>
          <a:lstStyle/>
          <a:p>
            <a:fld id="{C1FF6DA9-008F-8B48-92A6-B652298478B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895088" y="0"/>
            <a:ext cx="729691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0363199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29554"/>
            <a:ext cx="2699254" cy="1858941"/>
          </a:xfrm>
        </p:spPr>
        <p:txBody>
          <a:bodyPr vert="horz" lIns="91440" tIns="45720" rIns="91440" bIns="45720" rtlCol="0" anchor="b">
            <a:normAutofit/>
          </a:bodyPr>
          <a:lstStyle>
            <a:lvl1pPr>
              <a:defRPr lang="en-US" sz="250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p:spPr>
        <p:txBody>
          <a:bodyPr/>
          <a:lstStyle>
            <a:lvl1pPr>
              <a:defRPr>
                <a:solidFill>
                  <a:schemeClr val="tx1"/>
                </a:solidFill>
                <a:effectLst/>
              </a:defRPr>
            </a:lvl1pPr>
          </a:lstStyle>
          <a:p>
            <a:fld id="{5BCAD085-E8A6-8845-BD4E-CB4CCA059FC4}" type="datetimeFigureOut">
              <a:rPr lang="en-US" smtClean="0"/>
              <a:t>9/19/2026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702937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162318"/>
            <a:ext cx="3044954" cy="1892808"/>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4162318"/>
            <a:ext cx="7460029" cy="209152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BCAD085-E8A6-8845-BD4E-CB4CCA059FC4}" type="datetimeFigureOut">
              <a:rPr lang="en-US" smtClean="0"/>
              <a:t>9/19/2026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513466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637269"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lstStyle/>
          <a:p>
            <a:endParaRPr lang="en-US"/>
          </a:p>
        </p:txBody>
      </p:sp>
      <p:sp>
        <p:nvSpPr>
          <p:cNvPr id="5" name="Picture Placeholder 4">
            <a:extLst>
              <a:ext uri="{FF2B5EF4-FFF2-40B4-BE49-F238E27FC236}">
                <a16:creationId xmlns:a16="http://schemas.microsoft.com/office/drawing/2014/main" id="{EC8422D5-19BC-1CA0-FD0B-D86260BAA322}"/>
              </a:ext>
            </a:extLst>
          </p:cNvPr>
          <p:cNvSpPr>
            <a:spLocks noGrp="1"/>
          </p:cNvSpPr>
          <p:nvPr>
            <p:ph type="pic" sz="quarter" idx="18" hasCustomPrompt="1"/>
          </p:nvPr>
        </p:nvSpPr>
        <p:spPr>
          <a:xfrm>
            <a:off x="5737221" y="1912938"/>
            <a:ext cx="5741992" cy="4224337"/>
          </a:xfrm>
          <a:blipFill>
            <a:blip r:embed="rId2">
              <a:alphaModFix amt="6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lstStyle/>
          <a:p>
            <a:fld id="{5BCAD085-E8A6-8845-BD4E-CB4CCA059FC4}" type="datetimeFigureOut">
              <a:rPr lang="en-US" smtClean="0"/>
              <a:t>9/19/2026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22644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0468" y="2173850"/>
            <a:ext cx="4564763" cy="396368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BCAD085-E8A6-8845-BD4E-CB4CCA059FC4}" type="datetimeFigureOut">
              <a:rPr lang="en-US" smtClean="0"/>
              <a:t>9/19/2026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945868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6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484094"/>
            <a:ext cx="10543032" cy="4536141"/>
          </a:xfrm>
        </p:spPr>
        <p:txBody>
          <a:bodyPr anchor="b">
            <a:normAutofit/>
          </a:bodyPr>
          <a:lstStyle>
            <a:lvl1pPr marL="0" indent="0" algn="ctr">
              <a:lnSpc>
                <a:spcPct val="90000"/>
              </a:lnSpc>
              <a:buNone/>
              <a:defRPr sz="27000" b="1">
                <a:solidFill>
                  <a:schemeClr val="tx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9/19/2026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936343255"/>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264" y="42335"/>
            <a:ext cx="11517039" cy="6172200"/>
          </a:xfrm>
        </p:spPr>
        <p:txBody>
          <a:bodyPr anchor="t">
            <a:normAutofit/>
          </a:bodyPr>
          <a:lstStyle>
            <a:lvl1pPr marL="0" indent="0">
              <a:lnSpc>
                <a:spcPct val="90000"/>
              </a:lnSpc>
              <a:buNone/>
              <a:defRPr sz="8000" b="1"/>
            </a:lvl1pPr>
            <a:lvl2pPr marL="228600" indent="0">
              <a:lnSpc>
                <a:spcPct val="90000"/>
              </a:lnSpc>
              <a:buNone/>
              <a:defRPr sz="7200" b="1"/>
            </a:lvl2pPr>
            <a:lvl3pPr marL="457200" indent="0">
              <a:lnSpc>
                <a:spcPct val="90000"/>
              </a:lnSpc>
              <a:buNone/>
              <a:defRPr sz="6600" b="1"/>
            </a:lvl3pPr>
            <a:lvl4pPr marL="685800" indent="0">
              <a:lnSpc>
                <a:spcPct val="90000"/>
              </a:lnSpc>
              <a:buNone/>
              <a:defRPr sz="6000" b="1"/>
            </a:lvl4pPr>
            <a:lvl5pPr marL="914400" indent="0">
              <a:lnSpc>
                <a:spcPct val="90000"/>
              </a:lnSpc>
              <a:buNone/>
              <a:defRPr sz="54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0497404"/>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99616" y="5029200"/>
            <a:ext cx="9198864" cy="640080"/>
          </a:xfrm>
        </p:spPr>
        <p:txBody>
          <a:bodyPr anchor="ctr">
            <a:normAutofit/>
          </a:bodyPr>
          <a:lstStyle>
            <a:lvl1pPr>
              <a:lnSpc>
                <a:spcPct val="120000"/>
              </a:lnSpc>
              <a:defRPr sz="2000" spc="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332480"/>
          </a:xfrm>
        </p:spPr>
        <p:txBody>
          <a:bodyPr anchor="ctr">
            <a:normAutofit/>
          </a:bodyPr>
          <a:lstStyle>
            <a:lvl1pPr marL="164592" indent="-164592">
              <a:lnSpc>
                <a:spcPct val="100000"/>
              </a:lnSpc>
              <a:spcBef>
                <a:spcPts val="0"/>
              </a:spcBef>
              <a:buNone/>
              <a:defRPr sz="4800">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0292849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12064"/>
            <a:ext cx="10741152"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78563" y="1825625"/>
            <a:ext cx="5075237"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BCAD085-E8A6-8845-BD4E-CB4CCA059FC4}" type="datetimeFigureOut">
              <a:rPr lang="en-US" smtClean="0"/>
              <a:t>9/19/2026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078008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12064"/>
            <a:ext cx="10745788"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79832" y="2387600"/>
            <a:ext cx="5075556"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5BCAD085-E8A6-8845-BD4E-CB4CCA059FC4}" type="datetimeFigureOut">
              <a:rPr lang="en-US" smtClean="0"/>
              <a:t>9/19/2026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9921880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512064"/>
            <a:ext cx="10963656" cy="96926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132400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5BCAD085-E8A6-8845-BD4E-CB4CCA059FC4}" type="datetimeFigureOut">
              <a:rPr lang="en-US" smtClean="0"/>
              <a:t>9/19/2026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636111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299" y="89808"/>
            <a:ext cx="11462003" cy="2514600"/>
          </a:xfrm>
        </p:spPr>
        <p:txBody>
          <a:bodyPr anchor="t">
            <a:normAutofit/>
          </a:bodyPr>
          <a:lstStyle>
            <a:lvl1pPr>
              <a:defRPr sz="7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118757"/>
            <a:ext cx="10963528" cy="2620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56318966"/>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7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608008"/>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48260104"/>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09862"/>
            <a:ext cx="10963656" cy="45137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a:defRPr sz="80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a:defRPr sz="800">
                <a:solidFill>
                  <a:schemeClr val="tx1"/>
                </a:solidFill>
              </a:defRPr>
            </a:lvl1pPr>
          </a:lstStyle>
          <a:p>
            <a:fld id="{5BCAD085-E8A6-8845-BD4E-CB4CCA059FC4}" type="datetimeFigureOut">
              <a:rPr lang="en-US" smtClean="0"/>
              <a:t>9/19/2026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a:defRPr sz="800">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307269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Lst>
  <p:txStyles>
    <p:titleStyle>
      <a:lvl1pPr algn="l" defTabSz="914400" rtl="0" eaLnBrk="1" latinLnBrk="0" hangingPunct="1">
        <a:lnSpc>
          <a:spcPct val="95000"/>
        </a:lnSpc>
        <a:spcBef>
          <a:spcPct val="0"/>
        </a:spcBef>
        <a:buNone/>
        <a:defRPr sz="2800" b="1" kern="1200" spc="-3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guide id="9" pos="7296">
          <p15:clr>
            <a:srgbClr val="F26B43"/>
          </p15:clr>
        </p15:guide>
        <p15:guide id="10" pos="3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hyperlink" Target="https://splendorous-kleicha-9a62f1.netlify.app/" TargetMode="Externa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1F3D"/>
        </a:solidFill>
        <a:effectLst/>
      </p:bgPr>
    </p:bg>
    <p:spTree>
      <p:nvGrpSpPr>
        <p:cNvPr id="1" name=""/>
        <p:cNvGrpSpPr/>
        <p:nvPr/>
      </p:nvGrpSpPr>
      <p:grpSpPr>
        <a:xfrm>
          <a:off x="0" y="0"/>
          <a:ext cx="0" cy="0"/>
          <a:chOff x="0" y="0"/>
          <a:chExt cx="0" cy="0"/>
        </a:xfrm>
      </p:grpSpPr>
      <p:sp>
        <p:nvSpPr>
          <p:cNvPr id="5" name="TextBox 4"/>
          <p:cNvSpPr txBox="1"/>
          <p:nvPr/>
        </p:nvSpPr>
        <p:spPr>
          <a:xfrm>
            <a:off x="731520" y="1200537"/>
            <a:ext cx="6858000" cy="707886"/>
          </a:xfrm>
          <a:prstGeom prst="rect">
            <a:avLst/>
          </a:prstGeom>
          <a:noFill/>
        </p:spPr>
        <p:txBody>
          <a:bodyPr wrap="square" anchor="ctr">
            <a:spAutoFit/>
          </a:bodyPr>
          <a:lstStyle/>
          <a:p>
            <a:pPr algn="l">
              <a:defRPr sz="4000" b="1">
                <a:solidFill>
                  <a:srgbClr val="FFFFFF"/>
                </a:solidFill>
              </a:defRPr>
            </a:pPr>
            <a:r>
              <a:rPr lang="en-US" dirty="0"/>
              <a:t>FLIPSHOP</a:t>
            </a:r>
            <a:endParaRPr dirty="0"/>
          </a:p>
        </p:txBody>
      </p:sp>
      <p:sp>
        <p:nvSpPr>
          <p:cNvPr id="6" name="TextBox 5"/>
          <p:cNvSpPr txBox="1"/>
          <p:nvPr/>
        </p:nvSpPr>
        <p:spPr>
          <a:xfrm>
            <a:off x="731520" y="1920240"/>
            <a:ext cx="6858000" cy="594360"/>
          </a:xfrm>
          <a:prstGeom prst="rect">
            <a:avLst/>
          </a:prstGeom>
          <a:noFill/>
        </p:spPr>
        <p:txBody>
          <a:bodyPr wrap="square" anchor="ctr">
            <a:spAutoFit/>
          </a:bodyPr>
          <a:lstStyle/>
          <a:p>
            <a:pPr algn="l">
              <a:defRPr sz="3200" b="1">
                <a:solidFill>
                  <a:srgbClr val="BED7FF"/>
                </a:solidFill>
              </a:defRPr>
            </a:pPr>
            <a:r>
              <a:t>Shopping Website</a:t>
            </a:r>
          </a:p>
        </p:txBody>
      </p:sp>
      <p:sp>
        <p:nvSpPr>
          <p:cNvPr id="7" name="TextBox 6"/>
          <p:cNvSpPr txBox="1"/>
          <p:nvPr/>
        </p:nvSpPr>
        <p:spPr>
          <a:xfrm>
            <a:off x="777240" y="2697480"/>
            <a:ext cx="5943600" cy="365760"/>
          </a:xfrm>
          <a:prstGeom prst="rect">
            <a:avLst/>
          </a:prstGeom>
          <a:noFill/>
        </p:spPr>
        <p:txBody>
          <a:bodyPr wrap="square" anchor="ctr">
            <a:spAutoFit/>
          </a:bodyPr>
          <a:lstStyle/>
          <a:p>
            <a:pPr algn="l">
              <a:defRPr sz="1800" b="0">
                <a:solidFill>
                  <a:srgbClr val="FFFFFF"/>
                </a:solidFill>
              </a:defRPr>
            </a:pPr>
            <a:r>
              <a:t>Detailed Project Presentation</a:t>
            </a:r>
          </a:p>
        </p:txBody>
      </p:sp>
      <p:sp>
        <p:nvSpPr>
          <p:cNvPr id="8" name="TextBox 7"/>
          <p:cNvSpPr txBox="1"/>
          <p:nvPr/>
        </p:nvSpPr>
        <p:spPr>
          <a:xfrm>
            <a:off x="731520" y="3246120"/>
            <a:ext cx="5943600" cy="411480"/>
          </a:xfrm>
          <a:prstGeom prst="rect">
            <a:avLst/>
          </a:prstGeom>
          <a:noFill/>
        </p:spPr>
        <p:txBody>
          <a:bodyPr wrap="square" anchor="ctr">
            <a:spAutoFit/>
          </a:bodyPr>
          <a:lstStyle/>
          <a:p>
            <a:pPr algn="l">
              <a:defRPr sz="1800" b="1">
                <a:solidFill>
                  <a:srgbClr val="22B7CB"/>
                </a:solidFill>
              </a:defRPr>
            </a:pPr>
            <a:r>
              <a:t>HTML  •  CSS  •  JavaScript</a:t>
            </a:r>
          </a:p>
        </p:txBody>
      </p:sp>
      <p:sp>
        <p:nvSpPr>
          <p:cNvPr id="9" name="Rounded Rectangle 8"/>
          <p:cNvSpPr/>
          <p:nvPr/>
        </p:nvSpPr>
        <p:spPr>
          <a:xfrm>
            <a:off x="777240" y="4032504"/>
            <a:ext cx="6492240" cy="2157984"/>
          </a:xfrm>
          <a:prstGeom prst="roundRect">
            <a:avLst/>
          </a:prstGeom>
          <a:solidFill>
            <a:srgbClr val="1E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33272" y="4354765"/>
            <a:ext cx="1298448" cy="246221"/>
          </a:xfrm>
          <a:prstGeom prst="rect">
            <a:avLst/>
          </a:prstGeom>
          <a:noFill/>
        </p:spPr>
        <p:txBody>
          <a:bodyPr wrap="square" anchor="ctr">
            <a:spAutoFit/>
          </a:bodyPr>
          <a:lstStyle/>
          <a:p>
            <a:pPr algn="l">
              <a:defRPr sz="1000" b="1">
                <a:solidFill>
                  <a:srgbClr val="9BB4E1"/>
                </a:solidFill>
              </a:defRPr>
            </a:pPr>
            <a:r>
              <a:rPr dirty="0">
                <a:solidFill>
                  <a:schemeClr val="accent1">
                    <a:lumMod val="20000"/>
                    <a:lumOff val="80000"/>
                  </a:schemeClr>
                </a:solidFill>
              </a:rPr>
              <a:t>TEAM MEMBERS</a:t>
            </a:r>
          </a:p>
        </p:txBody>
      </p:sp>
      <p:sp>
        <p:nvSpPr>
          <p:cNvPr id="11" name="TextBox 10"/>
          <p:cNvSpPr txBox="1"/>
          <p:nvPr/>
        </p:nvSpPr>
        <p:spPr>
          <a:xfrm>
            <a:off x="1033272" y="4730396"/>
            <a:ext cx="6858000" cy="1708160"/>
          </a:xfrm>
          <a:prstGeom prst="rect">
            <a:avLst/>
          </a:prstGeom>
          <a:noFill/>
        </p:spPr>
        <p:txBody>
          <a:bodyPr wrap="square" anchor="ctr">
            <a:spAutoFit/>
          </a:bodyPr>
          <a:lstStyle/>
          <a:p>
            <a:pPr marL="342900" indent="-342900" algn="l">
              <a:buAutoNum type="arabicPeriod"/>
              <a:defRPr sz="1500" b="1">
                <a:solidFill>
                  <a:srgbClr val="FFFFFF"/>
                </a:solidFill>
              </a:defRPr>
            </a:pPr>
            <a:r>
              <a:rPr dirty="0"/>
              <a:t>Mohan Sai</a:t>
            </a:r>
            <a:endParaRPr lang="en-IN" dirty="0"/>
          </a:p>
          <a:p>
            <a:pPr marL="342900" indent="-342900" algn="l">
              <a:buAutoNum type="arabicPeriod"/>
              <a:defRPr sz="1500" b="1">
                <a:solidFill>
                  <a:srgbClr val="FFFFFF"/>
                </a:solidFill>
              </a:defRPr>
            </a:pPr>
            <a:r>
              <a:rPr lang="en-IN" dirty="0"/>
              <a:t>Siva </a:t>
            </a:r>
          </a:p>
          <a:p>
            <a:pPr marL="342900" indent="-342900" algn="l">
              <a:buAutoNum type="arabicPeriod"/>
              <a:defRPr sz="1500" b="1">
                <a:solidFill>
                  <a:srgbClr val="FFFFFF"/>
                </a:solidFill>
              </a:defRPr>
            </a:pPr>
            <a:r>
              <a:rPr lang="en-IN" dirty="0"/>
              <a:t>Sai</a:t>
            </a:r>
          </a:p>
          <a:p>
            <a:pPr marL="342900" indent="-342900" algn="l">
              <a:buAutoNum type="arabicPeriod"/>
              <a:defRPr sz="1500" b="1">
                <a:solidFill>
                  <a:srgbClr val="FFFFFF"/>
                </a:solidFill>
              </a:defRPr>
            </a:pPr>
            <a:r>
              <a:rPr lang="en-IN" dirty="0"/>
              <a:t>Mounika</a:t>
            </a:r>
          </a:p>
          <a:p>
            <a:pPr marL="342900" indent="-342900" algn="l">
              <a:buAutoNum type="arabicPeriod"/>
              <a:defRPr sz="1500" b="1">
                <a:solidFill>
                  <a:srgbClr val="FFFFFF"/>
                </a:solidFill>
              </a:defRPr>
            </a:pPr>
            <a:r>
              <a:rPr dirty="0"/>
              <a:t> </a:t>
            </a:r>
            <a:r>
              <a:rPr lang="en-IN" dirty="0"/>
              <a:t>Lavanya</a:t>
            </a:r>
          </a:p>
          <a:p>
            <a:pPr algn="l">
              <a:defRPr sz="1500" b="1">
                <a:solidFill>
                  <a:srgbClr val="FFFFFF"/>
                </a:solidFill>
              </a:defRPr>
            </a:pPr>
            <a:endParaRPr lang="en-IN" dirty="0"/>
          </a:p>
          <a:p>
            <a:pPr algn="l">
              <a:defRPr sz="1500" b="1">
                <a:solidFill>
                  <a:srgbClr val="FFFFFF"/>
                </a:solidFill>
              </a:defRPr>
            </a:pPr>
            <a:r>
              <a:rPr dirty="0"/>
              <a:t> </a:t>
            </a:r>
          </a:p>
        </p:txBody>
      </p:sp>
      <p:pic>
        <p:nvPicPr>
          <p:cNvPr id="13" name="Picture 12" descr="Young man use credit card for online shopping">
            <a:extLst>
              <a:ext uri="{FF2B5EF4-FFF2-40B4-BE49-F238E27FC236}">
                <a16:creationId xmlns:a16="http://schemas.microsoft.com/office/drawing/2014/main" id="{E17C33A5-D958-DFA3-4BAD-FBFDA9D439BC}"/>
              </a:ext>
            </a:extLst>
          </p:cNvPr>
          <p:cNvPicPr>
            <a:picLocks noChangeAspect="1"/>
          </p:cNvPicPr>
          <p:nvPr/>
        </p:nvPicPr>
        <p:blipFill>
          <a:blip r:embed="rId2"/>
          <a:stretch>
            <a:fillRect/>
          </a:stretch>
        </p:blipFill>
        <p:spPr>
          <a:xfrm>
            <a:off x="4713732" y="1055823"/>
            <a:ext cx="6391656" cy="373756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67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3657600" cy="274320"/>
          </a:xfrm>
          <a:prstGeom prst="rect">
            <a:avLst/>
          </a:prstGeom>
          <a:noFill/>
        </p:spPr>
        <p:txBody>
          <a:bodyPr wrap="square" anchor="ctr">
            <a:spAutoFit/>
          </a:bodyPr>
          <a:lstStyle/>
          <a:p>
            <a:pPr algn="l">
              <a:defRPr sz="1000" b="1">
                <a:solidFill>
                  <a:srgbClr val="2670DC"/>
                </a:solidFill>
              </a:defRPr>
            </a:pPr>
            <a:r>
              <a:t>01 • INTRODUCTION</a:t>
            </a:r>
          </a:p>
        </p:txBody>
      </p:sp>
      <p:sp>
        <p:nvSpPr>
          <p:cNvPr id="4" name="TextBox 3"/>
          <p:cNvSpPr txBox="1"/>
          <p:nvPr/>
        </p:nvSpPr>
        <p:spPr>
          <a:xfrm>
            <a:off x="594360" y="566928"/>
            <a:ext cx="10515600" cy="548640"/>
          </a:xfrm>
          <a:prstGeom prst="rect">
            <a:avLst/>
          </a:prstGeom>
          <a:noFill/>
        </p:spPr>
        <p:txBody>
          <a:bodyPr wrap="square" anchor="ctr">
            <a:spAutoFit/>
          </a:bodyPr>
          <a:lstStyle/>
          <a:p>
            <a:pPr algn="l">
              <a:defRPr sz="2800" b="1">
                <a:solidFill>
                  <a:srgbClr val="131F3D"/>
                </a:solidFill>
              </a:defRPr>
            </a:pPr>
            <a:r>
              <a:rPr dirty="0"/>
              <a:t>What is E-</a:t>
            </a:r>
            <a:r>
              <a:rPr lang="en-IN" dirty="0"/>
              <a:t>Commerce</a:t>
            </a:r>
            <a:r>
              <a:rPr dirty="0"/>
              <a:t>?</a:t>
            </a:r>
          </a:p>
        </p:txBody>
      </p:sp>
      <p:sp>
        <p:nvSpPr>
          <p:cNvPr id="5" name="TextBox 4"/>
          <p:cNvSpPr txBox="1"/>
          <p:nvPr/>
        </p:nvSpPr>
        <p:spPr>
          <a:xfrm>
            <a:off x="11155680" y="6419088"/>
            <a:ext cx="457200" cy="228600"/>
          </a:xfrm>
          <a:prstGeom prst="rect">
            <a:avLst/>
          </a:prstGeom>
          <a:noFill/>
        </p:spPr>
        <p:txBody>
          <a:bodyPr wrap="square" anchor="ctr">
            <a:spAutoFit/>
          </a:bodyPr>
          <a:lstStyle/>
          <a:p>
            <a:pPr algn="r">
              <a:defRPr sz="1000" b="1">
                <a:solidFill>
                  <a:srgbClr val="646E7D"/>
                </a:solidFill>
              </a:defRPr>
            </a:pPr>
            <a:r>
              <a:t>02</a:t>
            </a:r>
          </a:p>
        </p:txBody>
      </p:sp>
      <p:sp>
        <p:nvSpPr>
          <p:cNvPr id="6" name="TextBox 5"/>
          <p:cNvSpPr txBox="1"/>
          <p:nvPr/>
        </p:nvSpPr>
        <p:spPr>
          <a:xfrm>
            <a:off x="594360" y="1189610"/>
            <a:ext cx="10881360" cy="446276"/>
          </a:xfrm>
          <a:prstGeom prst="rect">
            <a:avLst/>
          </a:prstGeom>
          <a:noFill/>
        </p:spPr>
        <p:txBody>
          <a:bodyPr wrap="square" anchor="ctr">
            <a:spAutoFit/>
          </a:bodyPr>
          <a:lstStyle/>
          <a:p>
            <a:pPr algn="ctr">
              <a:defRPr sz="2300" b="1">
                <a:solidFill>
                  <a:srgbClr val="131F3D"/>
                </a:solidFill>
              </a:defRPr>
            </a:pPr>
            <a:r>
              <a:rPr dirty="0"/>
              <a:t>E-Commerce means buying and selling products or services through the internet.</a:t>
            </a:r>
          </a:p>
        </p:txBody>
      </p:sp>
      <p:sp>
        <p:nvSpPr>
          <p:cNvPr id="7" name="Rounded Rectangle 6"/>
          <p:cNvSpPr/>
          <p:nvPr/>
        </p:nvSpPr>
        <p:spPr>
          <a:xfrm>
            <a:off x="779524" y="1709928"/>
            <a:ext cx="3246120" cy="2514600"/>
          </a:xfrm>
          <a:prstGeom prst="roundRect">
            <a:avLst/>
          </a:prstGeom>
          <a:solidFill>
            <a:srgbClr val="FFFFFF"/>
          </a:solidFill>
          <a:ln>
            <a:solidFill>
              <a:srgbClr val="DE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67512" y="1984248"/>
            <a:ext cx="73152" cy="1737360"/>
          </a:xfrm>
          <a:prstGeom prst="rect">
            <a:avLst/>
          </a:prstGeom>
          <a:solidFill>
            <a:srgbClr val="267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520190" y="1929384"/>
            <a:ext cx="2258567" cy="320040"/>
          </a:xfrm>
          <a:prstGeom prst="rect">
            <a:avLst/>
          </a:prstGeom>
          <a:noFill/>
        </p:spPr>
        <p:txBody>
          <a:bodyPr wrap="square" anchor="ctr">
            <a:spAutoFit/>
          </a:bodyPr>
          <a:lstStyle/>
          <a:p>
            <a:pPr algn="l">
              <a:defRPr sz="1500" b="1">
                <a:solidFill>
                  <a:srgbClr val="131F3D"/>
                </a:solidFill>
              </a:defRPr>
            </a:pPr>
            <a:r>
              <a:rPr dirty="0"/>
              <a:t>ONLINE CATALOG</a:t>
            </a:r>
          </a:p>
        </p:txBody>
      </p:sp>
      <p:sp>
        <p:nvSpPr>
          <p:cNvPr id="10" name="TextBox 9"/>
          <p:cNvSpPr txBox="1"/>
          <p:nvPr/>
        </p:nvSpPr>
        <p:spPr>
          <a:xfrm>
            <a:off x="944118" y="2462189"/>
            <a:ext cx="2834639" cy="1015663"/>
          </a:xfrm>
          <a:prstGeom prst="rect">
            <a:avLst/>
          </a:prstGeom>
          <a:noFill/>
        </p:spPr>
        <p:txBody>
          <a:bodyPr wrap="square" anchor="ctr">
            <a:spAutoFit/>
          </a:bodyPr>
          <a:lstStyle/>
          <a:p>
            <a:pPr>
              <a:defRPr sz="1150" b="0">
                <a:solidFill>
                  <a:srgbClr val="646E7D"/>
                </a:solidFill>
              </a:defRPr>
            </a:pPr>
            <a:r>
              <a:rPr sz="2000" dirty="0"/>
              <a:t>.</a:t>
            </a:r>
            <a:r>
              <a:rPr lang="en-US" sz="2000" dirty="0"/>
              <a:t> </a:t>
            </a:r>
            <a:r>
              <a:rPr lang="en-US" sz="2000" dirty="0">
                <a:solidFill>
                  <a:srgbClr val="7030A0"/>
                </a:solidFill>
              </a:rPr>
              <a:t>Users can view products, prices, images and details</a:t>
            </a:r>
            <a:endParaRPr sz="2000" dirty="0">
              <a:solidFill>
                <a:srgbClr val="7030A0"/>
              </a:solidFill>
            </a:endParaRPr>
          </a:p>
        </p:txBody>
      </p:sp>
      <p:sp>
        <p:nvSpPr>
          <p:cNvPr id="11" name="Rounded Rectangle 10"/>
          <p:cNvSpPr/>
          <p:nvPr/>
        </p:nvSpPr>
        <p:spPr>
          <a:xfrm>
            <a:off x="4512562" y="1796796"/>
            <a:ext cx="3282695" cy="2427732"/>
          </a:xfrm>
          <a:prstGeom prst="roundRect">
            <a:avLst/>
          </a:prstGeom>
          <a:solidFill>
            <a:srgbClr val="FFFFFF"/>
          </a:solidFill>
          <a:ln>
            <a:solidFill>
              <a:srgbClr val="DE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37124" y="1929384"/>
            <a:ext cx="73152" cy="1737360"/>
          </a:xfrm>
          <a:prstGeom prst="rect">
            <a:avLst/>
          </a:prstGeom>
          <a:solidFill>
            <a:srgbClr val="755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17720" y="1877529"/>
            <a:ext cx="2944367" cy="323165"/>
          </a:xfrm>
          <a:prstGeom prst="rect">
            <a:avLst/>
          </a:prstGeom>
          <a:noFill/>
        </p:spPr>
        <p:txBody>
          <a:bodyPr wrap="square" anchor="ctr">
            <a:spAutoFit/>
          </a:bodyPr>
          <a:lstStyle/>
          <a:p>
            <a:pPr algn="l">
              <a:defRPr sz="1500" b="1">
                <a:solidFill>
                  <a:srgbClr val="131F3D"/>
                </a:solidFill>
              </a:defRPr>
            </a:pPr>
            <a:r>
              <a:rPr dirty="0"/>
              <a:t>DIGITAL CART</a:t>
            </a:r>
          </a:p>
        </p:txBody>
      </p:sp>
      <p:sp>
        <p:nvSpPr>
          <p:cNvPr id="14" name="TextBox 13"/>
          <p:cNvSpPr txBox="1"/>
          <p:nvPr/>
        </p:nvSpPr>
        <p:spPr>
          <a:xfrm>
            <a:off x="4617720" y="2541693"/>
            <a:ext cx="2944367" cy="1015663"/>
          </a:xfrm>
          <a:prstGeom prst="rect">
            <a:avLst/>
          </a:prstGeom>
          <a:noFill/>
        </p:spPr>
        <p:txBody>
          <a:bodyPr wrap="square" anchor="ctr">
            <a:spAutoFit/>
          </a:bodyPr>
          <a:lstStyle/>
          <a:p>
            <a:pPr algn="l">
              <a:defRPr sz="1150" b="0">
                <a:solidFill>
                  <a:srgbClr val="646E7D"/>
                </a:solidFill>
              </a:defRPr>
            </a:pPr>
            <a:r>
              <a:rPr sz="2000" dirty="0">
                <a:solidFill>
                  <a:schemeClr val="tx2">
                    <a:lumMod val="75000"/>
                  </a:schemeClr>
                </a:solidFill>
              </a:rPr>
              <a:t>Users select products and quantities before checkout.</a:t>
            </a:r>
          </a:p>
        </p:txBody>
      </p:sp>
      <p:sp>
        <p:nvSpPr>
          <p:cNvPr id="15" name="Rounded Rectangle 14"/>
          <p:cNvSpPr/>
          <p:nvPr/>
        </p:nvSpPr>
        <p:spPr>
          <a:xfrm>
            <a:off x="8229600" y="1709928"/>
            <a:ext cx="3246120" cy="2514599"/>
          </a:xfrm>
          <a:prstGeom prst="roundRect">
            <a:avLst/>
          </a:prstGeom>
          <a:solidFill>
            <a:srgbClr val="FFFFFF"/>
          </a:solidFill>
          <a:ln>
            <a:solidFill>
              <a:srgbClr val="DE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38159" y="2070195"/>
            <a:ext cx="73152" cy="1737360"/>
          </a:xfrm>
          <a:prstGeom prst="rect">
            <a:avLst/>
          </a:prstGeom>
          <a:solidFill>
            <a:srgbClr val="F28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41081" y="2172590"/>
            <a:ext cx="2834639" cy="320040"/>
          </a:xfrm>
          <a:prstGeom prst="rect">
            <a:avLst/>
          </a:prstGeom>
          <a:noFill/>
        </p:spPr>
        <p:txBody>
          <a:bodyPr wrap="square" anchor="ctr">
            <a:spAutoFit/>
          </a:bodyPr>
          <a:lstStyle/>
          <a:p>
            <a:pPr algn="l">
              <a:defRPr sz="1500" b="1">
                <a:solidFill>
                  <a:srgbClr val="131F3D"/>
                </a:solidFill>
              </a:defRPr>
            </a:pPr>
            <a:r>
              <a:rPr dirty="0"/>
              <a:t>ONLINE CHECKOUT</a:t>
            </a:r>
          </a:p>
        </p:txBody>
      </p:sp>
      <p:sp>
        <p:nvSpPr>
          <p:cNvPr id="18" name="TextBox 17"/>
          <p:cNvSpPr txBox="1"/>
          <p:nvPr/>
        </p:nvSpPr>
        <p:spPr>
          <a:xfrm>
            <a:off x="8506969" y="2561069"/>
            <a:ext cx="2877310" cy="584775"/>
          </a:xfrm>
          <a:prstGeom prst="rect">
            <a:avLst/>
          </a:prstGeom>
          <a:noFill/>
        </p:spPr>
        <p:txBody>
          <a:bodyPr wrap="square" anchor="ctr">
            <a:spAutoFit/>
          </a:bodyPr>
          <a:lstStyle/>
          <a:p>
            <a:pPr algn="l">
              <a:defRPr sz="1150" b="0">
                <a:solidFill>
                  <a:srgbClr val="646E7D"/>
                </a:solidFill>
              </a:defRPr>
            </a:pPr>
            <a:r>
              <a:rPr sz="1600" dirty="0">
                <a:solidFill>
                  <a:schemeClr val="accent2">
                    <a:lumMod val="75000"/>
                  </a:schemeClr>
                </a:solidFill>
              </a:rPr>
              <a:t>The system calculates the bill and provides a payment step</a:t>
            </a:r>
            <a:r>
              <a:rPr sz="1600" dirty="0"/>
              <a:t>.</a:t>
            </a:r>
          </a:p>
        </p:txBody>
      </p:sp>
      <p:sp>
        <p:nvSpPr>
          <p:cNvPr id="19" name="TextBox 18"/>
          <p:cNvSpPr txBox="1"/>
          <p:nvPr/>
        </p:nvSpPr>
        <p:spPr>
          <a:xfrm>
            <a:off x="1371600" y="5074920"/>
            <a:ext cx="9418320" cy="457200"/>
          </a:xfrm>
          <a:prstGeom prst="rect">
            <a:avLst/>
          </a:prstGeom>
          <a:noFill/>
        </p:spPr>
        <p:txBody>
          <a:bodyPr wrap="square" anchor="ctr">
            <a:spAutoFit/>
          </a:bodyPr>
          <a:lstStyle/>
          <a:p>
            <a:pPr algn="ctr">
              <a:defRPr sz="1900" b="1">
                <a:solidFill>
                  <a:srgbClr val="131F3D"/>
                </a:solidFill>
              </a:defRPr>
            </a:pPr>
            <a:r>
              <a:t>Goal: provide a convenient, organized and user-friendly shopping experience.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67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3657600" cy="274320"/>
          </a:xfrm>
          <a:prstGeom prst="rect">
            <a:avLst/>
          </a:prstGeom>
          <a:noFill/>
        </p:spPr>
        <p:txBody>
          <a:bodyPr wrap="square" anchor="ctr">
            <a:spAutoFit/>
          </a:bodyPr>
          <a:lstStyle/>
          <a:p>
            <a:pPr algn="l">
              <a:defRPr sz="1000" b="1">
                <a:solidFill>
                  <a:srgbClr val="2670DC"/>
                </a:solidFill>
              </a:defRPr>
            </a:pPr>
            <a:r>
              <a:t>02 • PROBLEM</a:t>
            </a:r>
          </a:p>
        </p:txBody>
      </p:sp>
      <p:sp>
        <p:nvSpPr>
          <p:cNvPr id="4" name="TextBox 3"/>
          <p:cNvSpPr txBox="1"/>
          <p:nvPr/>
        </p:nvSpPr>
        <p:spPr>
          <a:xfrm>
            <a:off x="594360" y="566928"/>
            <a:ext cx="10515600" cy="548640"/>
          </a:xfrm>
          <a:prstGeom prst="rect">
            <a:avLst/>
          </a:prstGeom>
          <a:noFill/>
        </p:spPr>
        <p:txBody>
          <a:bodyPr wrap="square" anchor="ctr">
            <a:spAutoFit/>
          </a:bodyPr>
          <a:lstStyle/>
          <a:p>
            <a:pPr algn="l">
              <a:defRPr sz="2800" b="1">
                <a:solidFill>
                  <a:srgbClr val="131F3D"/>
                </a:solidFill>
              </a:defRPr>
            </a:pPr>
            <a:r>
              <a:t>Problem Statement</a:t>
            </a:r>
          </a:p>
        </p:txBody>
      </p:sp>
      <p:sp>
        <p:nvSpPr>
          <p:cNvPr id="5" name="TextBox 4"/>
          <p:cNvSpPr txBox="1"/>
          <p:nvPr/>
        </p:nvSpPr>
        <p:spPr>
          <a:xfrm>
            <a:off x="11155680" y="6419088"/>
            <a:ext cx="457200" cy="228600"/>
          </a:xfrm>
          <a:prstGeom prst="rect">
            <a:avLst/>
          </a:prstGeom>
          <a:noFill/>
        </p:spPr>
        <p:txBody>
          <a:bodyPr wrap="square" anchor="ctr">
            <a:spAutoFit/>
          </a:bodyPr>
          <a:lstStyle/>
          <a:p>
            <a:pPr algn="r">
              <a:defRPr sz="1000" b="1">
                <a:solidFill>
                  <a:srgbClr val="646E7D"/>
                </a:solidFill>
              </a:defRPr>
            </a:pPr>
            <a:r>
              <a:t>03</a:t>
            </a:r>
          </a:p>
        </p:txBody>
      </p:sp>
      <p:sp>
        <p:nvSpPr>
          <p:cNvPr id="6" name="Rounded Rectangle 5"/>
          <p:cNvSpPr/>
          <p:nvPr/>
        </p:nvSpPr>
        <p:spPr>
          <a:xfrm>
            <a:off x="640080" y="1417320"/>
            <a:ext cx="3246120" cy="1691640"/>
          </a:xfrm>
          <a:prstGeom prst="roundRect">
            <a:avLst/>
          </a:prstGeom>
          <a:solidFill>
            <a:srgbClr val="FFFFFF"/>
          </a:solidFill>
          <a:ln>
            <a:solidFill>
              <a:srgbClr val="DE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417320"/>
            <a:ext cx="73152" cy="1691640"/>
          </a:xfrm>
          <a:prstGeom prst="rect">
            <a:avLst/>
          </a:prstGeom>
          <a:solidFill>
            <a:srgbClr val="267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581912"/>
            <a:ext cx="2834639" cy="320040"/>
          </a:xfrm>
          <a:prstGeom prst="rect">
            <a:avLst/>
          </a:prstGeom>
          <a:noFill/>
        </p:spPr>
        <p:txBody>
          <a:bodyPr wrap="square" anchor="ctr">
            <a:spAutoFit/>
          </a:bodyPr>
          <a:lstStyle/>
          <a:p>
            <a:pPr algn="l">
              <a:defRPr sz="1500" b="1">
                <a:solidFill>
                  <a:srgbClr val="131F3D"/>
                </a:solidFill>
              </a:defRPr>
            </a:pPr>
            <a:r>
              <a:t>TIME</a:t>
            </a:r>
          </a:p>
        </p:txBody>
      </p:sp>
      <p:sp>
        <p:nvSpPr>
          <p:cNvPr id="9" name="TextBox 8"/>
          <p:cNvSpPr txBox="1"/>
          <p:nvPr/>
        </p:nvSpPr>
        <p:spPr>
          <a:xfrm>
            <a:off x="868680" y="1984248"/>
            <a:ext cx="2834639" cy="1033272"/>
          </a:xfrm>
          <a:prstGeom prst="rect">
            <a:avLst/>
          </a:prstGeom>
          <a:noFill/>
        </p:spPr>
        <p:txBody>
          <a:bodyPr wrap="square" anchor="ctr">
            <a:spAutoFit/>
          </a:bodyPr>
          <a:lstStyle/>
          <a:p>
            <a:pPr algn="l">
              <a:defRPr sz="1150" b="0">
                <a:solidFill>
                  <a:srgbClr val="646E7D"/>
                </a:solidFill>
              </a:defRPr>
            </a:pPr>
            <a:r>
              <a:t>Physical shopping can require travel and waiting.</a:t>
            </a:r>
          </a:p>
        </p:txBody>
      </p:sp>
      <p:sp>
        <p:nvSpPr>
          <p:cNvPr id="10" name="Rounded Rectangle 9"/>
          <p:cNvSpPr/>
          <p:nvPr/>
        </p:nvSpPr>
        <p:spPr>
          <a:xfrm>
            <a:off x="4389120" y="1417320"/>
            <a:ext cx="3246120" cy="1691640"/>
          </a:xfrm>
          <a:prstGeom prst="roundRect">
            <a:avLst/>
          </a:prstGeom>
          <a:solidFill>
            <a:srgbClr val="FFFFFF"/>
          </a:solidFill>
          <a:ln>
            <a:solidFill>
              <a:srgbClr val="DE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417320"/>
            <a:ext cx="73152" cy="1691640"/>
          </a:xfrm>
          <a:prstGeom prst="rect">
            <a:avLst/>
          </a:prstGeom>
          <a:solidFill>
            <a:srgbClr val="22B7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17720" y="1581912"/>
            <a:ext cx="2834639" cy="320040"/>
          </a:xfrm>
          <a:prstGeom prst="rect">
            <a:avLst/>
          </a:prstGeom>
          <a:noFill/>
        </p:spPr>
        <p:txBody>
          <a:bodyPr wrap="square" anchor="ctr">
            <a:spAutoFit/>
          </a:bodyPr>
          <a:lstStyle/>
          <a:p>
            <a:pPr algn="l">
              <a:defRPr sz="1500" b="1">
                <a:solidFill>
                  <a:srgbClr val="131F3D"/>
                </a:solidFill>
              </a:defRPr>
            </a:pPr>
            <a:r>
              <a:t>LIMITED ACCESS</a:t>
            </a:r>
          </a:p>
        </p:txBody>
      </p:sp>
      <p:sp>
        <p:nvSpPr>
          <p:cNvPr id="13" name="TextBox 12"/>
          <p:cNvSpPr txBox="1"/>
          <p:nvPr/>
        </p:nvSpPr>
        <p:spPr>
          <a:xfrm>
            <a:off x="4617720" y="1984248"/>
            <a:ext cx="2834639" cy="1033272"/>
          </a:xfrm>
          <a:prstGeom prst="rect">
            <a:avLst/>
          </a:prstGeom>
          <a:noFill/>
        </p:spPr>
        <p:txBody>
          <a:bodyPr wrap="square" anchor="ctr">
            <a:spAutoFit/>
          </a:bodyPr>
          <a:lstStyle/>
          <a:p>
            <a:pPr algn="l">
              <a:defRPr sz="1150" b="0">
                <a:solidFill>
                  <a:srgbClr val="646E7D"/>
                </a:solidFill>
              </a:defRPr>
            </a:pPr>
            <a:r>
              <a:t>Store timings and location can restrict shopping.</a:t>
            </a:r>
          </a:p>
        </p:txBody>
      </p:sp>
      <p:sp>
        <p:nvSpPr>
          <p:cNvPr id="14" name="Rounded Rectangle 13"/>
          <p:cNvSpPr/>
          <p:nvPr/>
        </p:nvSpPr>
        <p:spPr>
          <a:xfrm>
            <a:off x="8138159" y="1417320"/>
            <a:ext cx="3246120" cy="1691640"/>
          </a:xfrm>
          <a:prstGeom prst="roundRect">
            <a:avLst/>
          </a:prstGeom>
          <a:solidFill>
            <a:srgbClr val="FFFFFF"/>
          </a:solidFill>
          <a:ln>
            <a:solidFill>
              <a:srgbClr val="DE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38159" y="1417320"/>
            <a:ext cx="73152" cy="1691640"/>
          </a:xfrm>
          <a:prstGeom prst="rect">
            <a:avLst/>
          </a:prstGeom>
          <a:solidFill>
            <a:srgbClr val="755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66759" y="1581912"/>
            <a:ext cx="2834639" cy="320040"/>
          </a:xfrm>
          <a:prstGeom prst="rect">
            <a:avLst/>
          </a:prstGeom>
          <a:noFill/>
        </p:spPr>
        <p:txBody>
          <a:bodyPr wrap="square" anchor="ctr">
            <a:spAutoFit/>
          </a:bodyPr>
          <a:lstStyle/>
          <a:p>
            <a:pPr algn="l">
              <a:defRPr sz="1500" b="1">
                <a:solidFill>
                  <a:srgbClr val="131F3D"/>
                </a:solidFill>
              </a:defRPr>
            </a:pPr>
            <a:r>
              <a:t>COMPARISON</a:t>
            </a:r>
          </a:p>
        </p:txBody>
      </p:sp>
      <p:sp>
        <p:nvSpPr>
          <p:cNvPr id="17" name="TextBox 16"/>
          <p:cNvSpPr txBox="1"/>
          <p:nvPr/>
        </p:nvSpPr>
        <p:spPr>
          <a:xfrm>
            <a:off x="8366759" y="1984248"/>
            <a:ext cx="2834639" cy="1033272"/>
          </a:xfrm>
          <a:prstGeom prst="rect">
            <a:avLst/>
          </a:prstGeom>
          <a:noFill/>
        </p:spPr>
        <p:txBody>
          <a:bodyPr wrap="square" anchor="ctr">
            <a:spAutoFit/>
          </a:bodyPr>
          <a:lstStyle/>
          <a:p>
            <a:pPr algn="l">
              <a:defRPr sz="1150" b="0">
                <a:solidFill>
                  <a:srgbClr val="646E7D"/>
                </a:solidFill>
              </a:defRPr>
            </a:pPr>
            <a:r>
              <a:t>Comparing products and prices may take extra effort.</a:t>
            </a:r>
          </a:p>
        </p:txBody>
      </p:sp>
      <p:sp>
        <p:nvSpPr>
          <p:cNvPr id="18" name="Rounded Rectangle 17"/>
          <p:cNvSpPr/>
          <p:nvPr/>
        </p:nvSpPr>
        <p:spPr>
          <a:xfrm>
            <a:off x="640080" y="3520439"/>
            <a:ext cx="3246120" cy="1691640"/>
          </a:xfrm>
          <a:prstGeom prst="roundRect">
            <a:avLst/>
          </a:prstGeom>
          <a:solidFill>
            <a:srgbClr val="FFFFFF"/>
          </a:solidFill>
          <a:ln>
            <a:solidFill>
              <a:srgbClr val="DE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40080" y="3520439"/>
            <a:ext cx="73152" cy="1691640"/>
          </a:xfrm>
          <a:prstGeom prst="rect">
            <a:avLst/>
          </a:prstGeom>
          <a:solidFill>
            <a:srgbClr val="F28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3685031"/>
            <a:ext cx="2834639" cy="320040"/>
          </a:xfrm>
          <a:prstGeom prst="rect">
            <a:avLst/>
          </a:prstGeom>
          <a:noFill/>
        </p:spPr>
        <p:txBody>
          <a:bodyPr wrap="square" anchor="ctr">
            <a:spAutoFit/>
          </a:bodyPr>
          <a:lstStyle/>
          <a:p>
            <a:pPr algn="l">
              <a:defRPr sz="1500" b="1">
                <a:solidFill>
                  <a:srgbClr val="131F3D"/>
                </a:solidFill>
              </a:defRPr>
            </a:pPr>
            <a:r>
              <a:t>MANUAL BILLING</a:t>
            </a:r>
          </a:p>
        </p:txBody>
      </p:sp>
      <p:sp>
        <p:nvSpPr>
          <p:cNvPr id="21" name="TextBox 20"/>
          <p:cNvSpPr txBox="1"/>
          <p:nvPr/>
        </p:nvSpPr>
        <p:spPr>
          <a:xfrm>
            <a:off x="868680" y="4087368"/>
            <a:ext cx="2834639" cy="1033272"/>
          </a:xfrm>
          <a:prstGeom prst="rect">
            <a:avLst/>
          </a:prstGeom>
          <a:noFill/>
        </p:spPr>
        <p:txBody>
          <a:bodyPr wrap="square" anchor="ctr">
            <a:spAutoFit/>
          </a:bodyPr>
          <a:lstStyle/>
          <a:p>
            <a:pPr algn="l">
              <a:defRPr sz="1150" b="0">
                <a:solidFill>
                  <a:srgbClr val="646E7D"/>
                </a:solidFill>
              </a:defRPr>
            </a:pPr>
            <a:r>
              <a:t>Manual calculations can lead to delays or errors.</a:t>
            </a:r>
          </a:p>
        </p:txBody>
      </p:sp>
      <p:sp>
        <p:nvSpPr>
          <p:cNvPr id="22" name="Rounded Rectangle 21"/>
          <p:cNvSpPr/>
          <p:nvPr/>
        </p:nvSpPr>
        <p:spPr>
          <a:xfrm>
            <a:off x="4389120" y="3520439"/>
            <a:ext cx="3246120" cy="1691640"/>
          </a:xfrm>
          <a:prstGeom prst="roundRect">
            <a:avLst/>
          </a:prstGeom>
          <a:solidFill>
            <a:srgbClr val="FFFFFF"/>
          </a:solidFill>
          <a:ln>
            <a:solidFill>
              <a:srgbClr val="DE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89120" y="3520439"/>
            <a:ext cx="73152" cy="1691640"/>
          </a:xfrm>
          <a:prstGeom prst="rect">
            <a:avLst/>
          </a:prstGeom>
          <a:solidFill>
            <a:srgbClr val="31A3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17720" y="3685031"/>
            <a:ext cx="2834639" cy="320040"/>
          </a:xfrm>
          <a:prstGeom prst="rect">
            <a:avLst/>
          </a:prstGeom>
          <a:noFill/>
        </p:spPr>
        <p:txBody>
          <a:bodyPr wrap="square" anchor="ctr">
            <a:spAutoFit/>
          </a:bodyPr>
          <a:lstStyle/>
          <a:p>
            <a:pPr algn="l">
              <a:defRPr sz="1500" b="1">
                <a:solidFill>
                  <a:srgbClr val="131F3D"/>
                </a:solidFill>
              </a:defRPr>
            </a:pPr>
            <a:r>
              <a:t>CONVENIENCE</a:t>
            </a:r>
          </a:p>
        </p:txBody>
      </p:sp>
      <p:sp>
        <p:nvSpPr>
          <p:cNvPr id="25" name="TextBox 24"/>
          <p:cNvSpPr txBox="1"/>
          <p:nvPr/>
        </p:nvSpPr>
        <p:spPr>
          <a:xfrm>
            <a:off x="4617720" y="4087368"/>
            <a:ext cx="2834639" cy="1033272"/>
          </a:xfrm>
          <a:prstGeom prst="rect">
            <a:avLst/>
          </a:prstGeom>
          <a:noFill/>
        </p:spPr>
        <p:txBody>
          <a:bodyPr wrap="square" anchor="ctr">
            <a:spAutoFit/>
          </a:bodyPr>
          <a:lstStyle/>
          <a:p>
            <a:pPr algn="l">
              <a:defRPr sz="1150" b="0">
                <a:solidFill>
                  <a:srgbClr val="646E7D"/>
                </a:solidFill>
              </a:defRPr>
            </a:pPr>
            <a:r>
              <a:t>Customers need an easy cart, checkout and payment flow.</a:t>
            </a:r>
          </a:p>
        </p:txBody>
      </p:sp>
      <p:sp>
        <p:nvSpPr>
          <p:cNvPr id="26" name="Rounded Rectangle 25"/>
          <p:cNvSpPr/>
          <p:nvPr/>
        </p:nvSpPr>
        <p:spPr>
          <a:xfrm>
            <a:off x="8138159" y="3520439"/>
            <a:ext cx="3246120" cy="1691640"/>
          </a:xfrm>
          <a:prstGeom prst="roundRect">
            <a:avLst/>
          </a:prstGeom>
          <a:solidFill>
            <a:srgbClr val="FFFFFF"/>
          </a:solidFill>
          <a:ln>
            <a:solidFill>
              <a:srgbClr val="DE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138159" y="3520439"/>
            <a:ext cx="73152" cy="1691640"/>
          </a:xfrm>
          <a:prstGeom prst="rect">
            <a:avLst/>
          </a:prstGeom>
          <a:solidFill>
            <a:srgbClr val="131F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66759" y="3685031"/>
            <a:ext cx="2834639" cy="320040"/>
          </a:xfrm>
          <a:prstGeom prst="rect">
            <a:avLst/>
          </a:prstGeom>
          <a:noFill/>
        </p:spPr>
        <p:txBody>
          <a:bodyPr wrap="square" anchor="ctr">
            <a:spAutoFit/>
          </a:bodyPr>
          <a:lstStyle/>
          <a:p>
            <a:pPr algn="l">
              <a:defRPr sz="1500" b="1">
                <a:solidFill>
                  <a:srgbClr val="131F3D"/>
                </a:solidFill>
              </a:defRPr>
            </a:pPr>
            <a:r>
              <a:t>INFORMATION</a:t>
            </a:r>
          </a:p>
        </p:txBody>
      </p:sp>
      <p:sp>
        <p:nvSpPr>
          <p:cNvPr id="29" name="TextBox 28"/>
          <p:cNvSpPr txBox="1"/>
          <p:nvPr/>
        </p:nvSpPr>
        <p:spPr>
          <a:xfrm>
            <a:off x="8366759" y="4087368"/>
            <a:ext cx="2834639" cy="1033272"/>
          </a:xfrm>
          <a:prstGeom prst="rect">
            <a:avLst/>
          </a:prstGeom>
          <a:noFill/>
        </p:spPr>
        <p:txBody>
          <a:bodyPr wrap="square" anchor="ctr">
            <a:spAutoFit/>
          </a:bodyPr>
          <a:lstStyle/>
          <a:p>
            <a:pPr algn="l">
              <a:defRPr sz="1150" b="0">
                <a:solidFill>
                  <a:srgbClr val="646E7D"/>
                </a:solidFill>
              </a:defRPr>
            </a:pPr>
            <a:r>
              <a:rPr dirty="0"/>
              <a:t>Customers need product details before purchasing.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67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3657600" cy="274320"/>
          </a:xfrm>
          <a:prstGeom prst="rect">
            <a:avLst/>
          </a:prstGeom>
          <a:noFill/>
        </p:spPr>
        <p:txBody>
          <a:bodyPr wrap="square" anchor="ctr">
            <a:spAutoFit/>
          </a:bodyPr>
          <a:lstStyle/>
          <a:p>
            <a:pPr algn="l">
              <a:defRPr sz="1000" b="1">
                <a:solidFill>
                  <a:srgbClr val="2670DC"/>
                </a:solidFill>
              </a:defRPr>
            </a:pPr>
            <a:r>
              <a:t>03 • SOLUTION</a:t>
            </a:r>
          </a:p>
        </p:txBody>
      </p:sp>
      <p:sp>
        <p:nvSpPr>
          <p:cNvPr id="4" name="TextBox 3"/>
          <p:cNvSpPr txBox="1"/>
          <p:nvPr/>
        </p:nvSpPr>
        <p:spPr>
          <a:xfrm>
            <a:off x="594360" y="566928"/>
            <a:ext cx="10515600" cy="548640"/>
          </a:xfrm>
          <a:prstGeom prst="rect">
            <a:avLst/>
          </a:prstGeom>
          <a:noFill/>
        </p:spPr>
        <p:txBody>
          <a:bodyPr wrap="square" anchor="ctr">
            <a:spAutoFit/>
          </a:bodyPr>
          <a:lstStyle/>
          <a:p>
            <a:pPr algn="l">
              <a:defRPr sz="2800" b="1">
                <a:solidFill>
                  <a:srgbClr val="131F3D"/>
                </a:solidFill>
              </a:defRPr>
            </a:pPr>
            <a:r>
              <a:t>Proposed Solution</a:t>
            </a:r>
          </a:p>
        </p:txBody>
      </p:sp>
      <p:sp>
        <p:nvSpPr>
          <p:cNvPr id="5" name="TextBox 4"/>
          <p:cNvSpPr txBox="1"/>
          <p:nvPr/>
        </p:nvSpPr>
        <p:spPr>
          <a:xfrm>
            <a:off x="11155680" y="6419088"/>
            <a:ext cx="457200" cy="228600"/>
          </a:xfrm>
          <a:prstGeom prst="rect">
            <a:avLst/>
          </a:prstGeom>
          <a:noFill/>
        </p:spPr>
        <p:txBody>
          <a:bodyPr wrap="square" anchor="ctr">
            <a:spAutoFit/>
          </a:bodyPr>
          <a:lstStyle/>
          <a:p>
            <a:pPr algn="r">
              <a:defRPr sz="1000" b="1">
                <a:solidFill>
                  <a:srgbClr val="646E7D"/>
                </a:solidFill>
              </a:defRPr>
            </a:pPr>
            <a:r>
              <a:t>04</a:t>
            </a:r>
          </a:p>
        </p:txBody>
      </p:sp>
      <p:sp>
        <p:nvSpPr>
          <p:cNvPr id="6" name="TextBox 5"/>
          <p:cNvSpPr txBox="1"/>
          <p:nvPr/>
        </p:nvSpPr>
        <p:spPr>
          <a:xfrm>
            <a:off x="731520" y="1325880"/>
            <a:ext cx="10698480" cy="640080"/>
          </a:xfrm>
          <a:prstGeom prst="rect">
            <a:avLst/>
          </a:prstGeom>
          <a:noFill/>
        </p:spPr>
        <p:txBody>
          <a:bodyPr wrap="square" anchor="ctr">
            <a:spAutoFit/>
          </a:bodyPr>
          <a:lstStyle/>
          <a:p>
            <a:pPr algn="ctr">
              <a:defRPr sz="2100" b="1">
                <a:solidFill>
                  <a:srgbClr val="131F3D"/>
                </a:solidFill>
              </a:defRPr>
            </a:pPr>
            <a:r>
              <a:t>We propose a centralized E-Commerce website where customers can complete the shopping journey online.</a:t>
            </a:r>
          </a:p>
        </p:txBody>
      </p:sp>
      <p:sp>
        <p:nvSpPr>
          <p:cNvPr id="7" name="Rounded Rectangle 6"/>
          <p:cNvSpPr/>
          <p:nvPr/>
        </p:nvSpPr>
        <p:spPr>
          <a:xfrm>
            <a:off x="685800" y="2743200"/>
            <a:ext cx="1417320" cy="960120"/>
          </a:xfrm>
          <a:prstGeom prst="roundRect">
            <a:avLst/>
          </a:prstGeom>
          <a:solidFill>
            <a:srgbClr val="267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2834640"/>
            <a:ext cx="1417320" cy="274320"/>
          </a:xfrm>
          <a:prstGeom prst="rect">
            <a:avLst/>
          </a:prstGeom>
          <a:noFill/>
        </p:spPr>
        <p:txBody>
          <a:bodyPr wrap="square" anchor="ctr">
            <a:spAutoFit/>
          </a:bodyPr>
          <a:lstStyle/>
          <a:p>
            <a:pPr algn="ctr">
              <a:defRPr sz="1100" b="1">
                <a:solidFill>
                  <a:srgbClr val="FFFFFF"/>
                </a:solidFill>
              </a:defRPr>
            </a:pPr>
            <a:r>
              <a:t>1</a:t>
            </a:r>
          </a:p>
        </p:txBody>
      </p:sp>
      <p:sp>
        <p:nvSpPr>
          <p:cNvPr id="9" name="TextBox 8"/>
          <p:cNvSpPr txBox="1"/>
          <p:nvPr/>
        </p:nvSpPr>
        <p:spPr>
          <a:xfrm>
            <a:off x="685800" y="3154680"/>
            <a:ext cx="1417320" cy="320040"/>
          </a:xfrm>
          <a:prstGeom prst="rect">
            <a:avLst/>
          </a:prstGeom>
          <a:noFill/>
        </p:spPr>
        <p:txBody>
          <a:bodyPr wrap="square" anchor="ctr">
            <a:spAutoFit/>
          </a:bodyPr>
          <a:lstStyle/>
          <a:p>
            <a:pPr algn="ctr">
              <a:defRPr sz="1400" b="1">
                <a:solidFill>
                  <a:srgbClr val="FFFFFF"/>
                </a:solidFill>
              </a:defRPr>
            </a:pPr>
            <a:r>
              <a:t>LOGIN</a:t>
            </a:r>
          </a:p>
        </p:txBody>
      </p:sp>
      <p:cxnSp>
        <p:nvCxnSpPr>
          <p:cNvPr id="10" name="Connector 9"/>
          <p:cNvCxnSpPr/>
          <p:nvPr/>
        </p:nvCxnSpPr>
        <p:spPr>
          <a:xfrm>
            <a:off x="2103120" y="3218688"/>
            <a:ext cx="457200" cy="0"/>
          </a:xfrm>
          <a:prstGeom prst="line">
            <a:avLst/>
          </a:prstGeom>
          <a:ln>
            <a:solidFill>
              <a:srgbClr val="646E7D"/>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560320" y="2743200"/>
            <a:ext cx="1417320" cy="960120"/>
          </a:xfrm>
          <a:prstGeom prst="roundRect">
            <a:avLst/>
          </a:prstGeom>
          <a:solidFill>
            <a:srgbClr val="22B7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60320" y="2834640"/>
            <a:ext cx="1417320" cy="274320"/>
          </a:xfrm>
          <a:prstGeom prst="rect">
            <a:avLst/>
          </a:prstGeom>
          <a:noFill/>
        </p:spPr>
        <p:txBody>
          <a:bodyPr wrap="square" anchor="ctr">
            <a:spAutoFit/>
          </a:bodyPr>
          <a:lstStyle/>
          <a:p>
            <a:pPr algn="ctr">
              <a:defRPr sz="1100" b="1">
                <a:solidFill>
                  <a:srgbClr val="FFFFFF"/>
                </a:solidFill>
              </a:defRPr>
            </a:pPr>
            <a:r>
              <a:t>2</a:t>
            </a:r>
          </a:p>
        </p:txBody>
      </p:sp>
      <p:sp>
        <p:nvSpPr>
          <p:cNvPr id="13" name="TextBox 12"/>
          <p:cNvSpPr txBox="1"/>
          <p:nvPr/>
        </p:nvSpPr>
        <p:spPr>
          <a:xfrm>
            <a:off x="2560320" y="3154680"/>
            <a:ext cx="1417320" cy="320040"/>
          </a:xfrm>
          <a:prstGeom prst="rect">
            <a:avLst/>
          </a:prstGeom>
          <a:noFill/>
        </p:spPr>
        <p:txBody>
          <a:bodyPr wrap="square" anchor="ctr">
            <a:spAutoFit/>
          </a:bodyPr>
          <a:lstStyle/>
          <a:p>
            <a:pPr algn="ctr">
              <a:defRPr sz="1400" b="1">
                <a:solidFill>
                  <a:srgbClr val="FFFFFF"/>
                </a:solidFill>
              </a:defRPr>
            </a:pPr>
            <a:r>
              <a:t>BROWSE</a:t>
            </a:r>
          </a:p>
        </p:txBody>
      </p:sp>
      <p:cxnSp>
        <p:nvCxnSpPr>
          <p:cNvPr id="14" name="Connector 13"/>
          <p:cNvCxnSpPr/>
          <p:nvPr/>
        </p:nvCxnSpPr>
        <p:spPr>
          <a:xfrm>
            <a:off x="3977639" y="3218688"/>
            <a:ext cx="457201" cy="0"/>
          </a:xfrm>
          <a:prstGeom prst="line">
            <a:avLst/>
          </a:prstGeom>
          <a:ln>
            <a:solidFill>
              <a:srgbClr val="646E7D"/>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434840" y="2743200"/>
            <a:ext cx="1417320" cy="960120"/>
          </a:xfrm>
          <a:prstGeom prst="roundRect">
            <a:avLst/>
          </a:prstGeom>
          <a:solidFill>
            <a:srgbClr val="755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34840" y="2834640"/>
            <a:ext cx="1417320" cy="274320"/>
          </a:xfrm>
          <a:prstGeom prst="rect">
            <a:avLst/>
          </a:prstGeom>
          <a:noFill/>
        </p:spPr>
        <p:txBody>
          <a:bodyPr wrap="square" anchor="ctr">
            <a:spAutoFit/>
          </a:bodyPr>
          <a:lstStyle/>
          <a:p>
            <a:pPr algn="ctr">
              <a:defRPr sz="1100" b="1">
                <a:solidFill>
                  <a:srgbClr val="FFFFFF"/>
                </a:solidFill>
              </a:defRPr>
            </a:pPr>
            <a:r>
              <a:t>3</a:t>
            </a:r>
          </a:p>
        </p:txBody>
      </p:sp>
      <p:sp>
        <p:nvSpPr>
          <p:cNvPr id="17" name="TextBox 16"/>
          <p:cNvSpPr txBox="1"/>
          <p:nvPr/>
        </p:nvSpPr>
        <p:spPr>
          <a:xfrm>
            <a:off x="4434840" y="3154680"/>
            <a:ext cx="1417320" cy="320040"/>
          </a:xfrm>
          <a:prstGeom prst="rect">
            <a:avLst/>
          </a:prstGeom>
          <a:noFill/>
        </p:spPr>
        <p:txBody>
          <a:bodyPr wrap="square" anchor="ctr">
            <a:spAutoFit/>
          </a:bodyPr>
          <a:lstStyle/>
          <a:p>
            <a:pPr algn="ctr">
              <a:defRPr sz="1400" b="1">
                <a:solidFill>
                  <a:srgbClr val="FFFFFF"/>
                </a:solidFill>
              </a:defRPr>
            </a:pPr>
            <a:r>
              <a:t>SELECT</a:t>
            </a:r>
          </a:p>
        </p:txBody>
      </p:sp>
      <p:cxnSp>
        <p:nvCxnSpPr>
          <p:cNvPr id="18" name="Connector 17"/>
          <p:cNvCxnSpPr/>
          <p:nvPr/>
        </p:nvCxnSpPr>
        <p:spPr>
          <a:xfrm>
            <a:off x="5852159" y="3218688"/>
            <a:ext cx="457200" cy="0"/>
          </a:xfrm>
          <a:prstGeom prst="line">
            <a:avLst/>
          </a:prstGeom>
          <a:ln>
            <a:solidFill>
              <a:srgbClr val="646E7D"/>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309359" y="2743200"/>
            <a:ext cx="1417320" cy="960120"/>
          </a:xfrm>
          <a:prstGeom prst="roundRect">
            <a:avLst/>
          </a:prstGeom>
          <a:solidFill>
            <a:srgbClr val="F28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09359" y="2834640"/>
            <a:ext cx="1417320" cy="274320"/>
          </a:xfrm>
          <a:prstGeom prst="rect">
            <a:avLst/>
          </a:prstGeom>
          <a:noFill/>
        </p:spPr>
        <p:txBody>
          <a:bodyPr wrap="square" anchor="ctr">
            <a:spAutoFit/>
          </a:bodyPr>
          <a:lstStyle/>
          <a:p>
            <a:pPr algn="ctr">
              <a:defRPr sz="1100" b="1">
                <a:solidFill>
                  <a:srgbClr val="FFFFFF"/>
                </a:solidFill>
              </a:defRPr>
            </a:pPr>
            <a:r>
              <a:t>4</a:t>
            </a:r>
          </a:p>
        </p:txBody>
      </p:sp>
      <p:sp>
        <p:nvSpPr>
          <p:cNvPr id="21" name="TextBox 20"/>
          <p:cNvSpPr txBox="1"/>
          <p:nvPr/>
        </p:nvSpPr>
        <p:spPr>
          <a:xfrm>
            <a:off x="6309359" y="3154680"/>
            <a:ext cx="1417320" cy="320040"/>
          </a:xfrm>
          <a:prstGeom prst="rect">
            <a:avLst/>
          </a:prstGeom>
          <a:noFill/>
        </p:spPr>
        <p:txBody>
          <a:bodyPr wrap="square" anchor="ctr">
            <a:spAutoFit/>
          </a:bodyPr>
          <a:lstStyle/>
          <a:p>
            <a:pPr algn="ctr">
              <a:defRPr sz="1400" b="1">
                <a:solidFill>
                  <a:srgbClr val="FFFFFF"/>
                </a:solidFill>
              </a:defRPr>
            </a:pPr>
            <a:r>
              <a:t>CART</a:t>
            </a:r>
          </a:p>
        </p:txBody>
      </p:sp>
      <p:cxnSp>
        <p:nvCxnSpPr>
          <p:cNvPr id="22" name="Connector 21"/>
          <p:cNvCxnSpPr/>
          <p:nvPr/>
        </p:nvCxnSpPr>
        <p:spPr>
          <a:xfrm>
            <a:off x="7726679" y="3218688"/>
            <a:ext cx="457200" cy="0"/>
          </a:xfrm>
          <a:prstGeom prst="line">
            <a:avLst/>
          </a:prstGeom>
          <a:ln>
            <a:solidFill>
              <a:srgbClr val="646E7D"/>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183879" y="2743200"/>
            <a:ext cx="1417320" cy="960120"/>
          </a:xfrm>
          <a:prstGeom prst="roundRect">
            <a:avLst/>
          </a:prstGeom>
          <a:solidFill>
            <a:srgbClr val="31A3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183879" y="2834640"/>
            <a:ext cx="1417320" cy="274320"/>
          </a:xfrm>
          <a:prstGeom prst="rect">
            <a:avLst/>
          </a:prstGeom>
          <a:noFill/>
        </p:spPr>
        <p:txBody>
          <a:bodyPr wrap="square" anchor="ctr">
            <a:spAutoFit/>
          </a:bodyPr>
          <a:lstStyle/>
          <a:p>
            <a:pPr algn="ctr">
              <a:defRPr sz="1100" b="1">
                <a:solidFill>
                  <a:srgbClr val="FFFFFF"/>
                </a:solidFill>
              </a:defRPr>
            </a:pPr>
            <a:r>
              <a:t>5</a:t>
            </a:r>
          </a:p>
        </p:txBody>
      </p:sp>
      <p:sp>
        <p:nvSpPr>
          <p:cNvPr id="25" name="TextBox 24"/>
          <p:cNvSpPr txBox="1"/>
          <p:nvPr/>
        </p:nvSpPr>
        <p:spPr>
          <a:xfrm>
            <a:off x="8183879" y="3154680"/>
            <a:ext cx="1417320" cy="320040"/>
          </a:xfrm>
          <a:prstGeom prst="rect">
            <a:avLst/>
          </a:prstGeom>
          <a:noFill/>
        </p:spPr>
        <p:txBody>
          <a:bodyPr wrap="square" anchor="ctr">
            <a:spAutoFit/>
          </a:bodyPr>
          <a:lstStyle/>
          <a:p>
            <a:pPr algn="ctr">
              <a:defRPr sz="1400" b="1">
                <a:solidFill>
                  <a:srgbClr val="FFFFFF"/>
                </a:solidFill>
              </a:defRPr>
            </a:pPr>
            <a:r>
              <a:t>CHECKOUT</a:t>
            </a:r>
          </a:p>
        </p:txBody>
      </p:sp>
      <p:cxnSp>
        <p:nvCxnSpPr>
          <p:cNvPr id="26" name="Connector 25"/>
          <p:cNvCxnSpPr/>
          <p:nvPr/>
        </p:nvCxnSpPr>
        <p:spPr>
          <a:xfrm>
            <a:off x="9601200" y="3218688"/>
            <a:ext cx="457200" cy="0"/>
          </a:xfrm>
          <a:prstGeom prst="line">
            <a:avLst/>
          </a:prstGeom>
          <a:ln>
            <a:solidFill>
              <a:srgbClr val="646E7D"/>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10058400" y="2743200"/>
            <a:ext cx="1417320" cy="960120"/>
          </a:xfrm>
          <a:prstGeom prst="roundRect">
            <a:avLst/>
          </a:prstGeom>
          <a:solidFill>
            <a:srgbClr val="131F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058400" y="2834640"/>
            <a:ext cx="1417320" cy="274320"/>
          </a:xfrm>
          <a:prstGeom prst="rect">
            <a:avLst/>
          </a:prstGeom>
          <a:noFill/>
        </p:spPr>
        <p:txBody>
          <a:bodyPr wrap="square" anchor="ctr">
            <a:spAutoFit/>
          </a:bodyPr>
          <a:lstStyle/>
          <a:p>
            <a:pPr algn="ctr">
              <a:defRPr sz="1100" b="1">
                <a:solidFill>
                  <a:srgbClr val="FFFFFF"/>
                </a:solidFill>
              </a:defRPr>
            </a:pPr>
            <a:r>
              <a:t>6</a:t>
            </a:r>
          </a:p>
        </p:txBody>
      </p:sp>
      <p:sp>
        <p:nvSpPr>
          <p:cNvPr id="29" name="TextBox 28"/>
          <p:cNvSpPr txBox="1"/>
          <p:nvPr/>
        </p:nvSpPr>
        <p:spPr>
          <a:xfrm>
            <a:off x="10058400" y="3154680"/>
            <a:ext cx="1417320" cy="320040"/>
          </a:xfrm>
          <a:prstGeom prst="rect">
            <a:avLst/>
          </a:prstGeom>
          <a:noFill/>
        </p:spPr>
        <p:txBody>
          <a:bodyPr wrap="square" anchor="ctr">
            <a:spAutoFit/>
          </a:bodyPr>
          <a:lstStyle/>
          <a:p>
            <a:pPr algn="ctr">
              <a:defRPr sz="1400" b="1">
                <a:solidFill>
                  <a:srgbClr val="FFFFFF"/>
                </a:solidFill>
              </a:defRPr>
            </a:pPr>
            <a:r>
              <a:t>ORDER</a:t>
            </a:r>
          </a:p>
        </p:txBody>
      </p:sp>
      <p:sp>
        <p:nvSpPr>
          <p:cNvPr id="30" name="TextBox 29"/>
          <p:cNvSpPr txBox="1"/>
          <p:nvPr/>
        </p:nvSpPr>
        <p:spPr>
          <a:xfrm>
            <a:off x="82296" y="4628311"/>
            <a:ext cx="6227063" cy="646331"/>
          </a:xfrm>
          <a:prstGeom prst="rect">
            <a:avLst/>
          </a:prstGeom>
          <a:noFill/>
        </p:spPr>
        <p:txBody>
          <a:bodyPr wrap="square" anchor="ctr">
            <a:spAutoFit/>
          </a:bodyPr>
          <a:lstStyle/>
          <a:p>
            <a:pPr algn="ctr">
              <a:defRPr sz="1800" b="1">
                <a:solidFill>
                  <a:srgbClr val="131F3D"/>
                </a:solidFill>
              </a:defRPr>
            </a:pPr>
            <a:r>
              <a:rPr dirty="0"/>
              <a:t>Result: a structured digital shopping experience from product discovery to order placement.</a:t>
            </a:r>
          </a:p>
        </p:txBody>
      </p:sp>
      <p:pic>
        <p:nvPicPr>
          <p:cNvPr id="31" name="Picture 30" descr="Isometric Online Internet Shopping">
            <a:extLst>
              <a:ext uri="{FF2B5EF4-FFF2-40B4-BE49-F238E27FC236}">
                <a16:creationId xmlns:a16="http://schemas.microsoft.com/office/drawing/2014/main" id="{920AF616-47D5-E58C-F775-31418405B996}"/>
              </a:ext>
            </a:extLst>
          </p:cNvPr>
          <p:cNvPicPr>
            <a:picLocks noChangeAspect="1"/>
          </p:cNvPicPr>
          <p:nvPr/>
        </p:nvPicPr>
        <p:blipFill>
          <a:blip r:embed="rId2"/>
          <a:stretch>
            <a:fillRect/>
          </a:stretch>
        </p:blipFill>
        <p:spPr>
          <a:xfrm>
            <a:off x="7493508" y="3733878"/>
            <a:ext cx="3081528" cy="308152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67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3657600" cy="274320"/>
          </a:xfrm>
          <a:prstGeom prst="rect">
            <a:avLst/>
          </a:prstGeom>
          <a:noFill/>
        </p:spPr>
        <p:txBody>
          <a:bodyPr wrap="square" anchor="ctr">
            <a:spAutoFit/>
          </a:bodyPr>
          <a:lstStyle/>
          <a:p>
            <a:pPr algn="l">
              <a:defRPr sz="1000" b="1">
                <a:solidFill>
                  <a:srgbClr val="2670DC"/>
                </a:solidFill>
              </a:defRPr>
            </a:pPr>
            <a:r>
              <a:t>04 • TECHNOLOGY</a:t>
            </a:r>
          </a:p>
        </p:txBody>
      </p:sp>
      <p:sp>
        <p:nvSpPr>
          <p:cNvPr id="4" name="TextBox 3"/>
          <p:cNvSpPr txBox="1"/>
          <p:nvPr/>
        </p:nvSpPr>
        <p:spPr>
          <a:xfrm>
            <a:off x="594360" y="566928"/>
            <a:ext cx="10515600" cy="548640"/>
          </a:xfrm>
          <a:prstGeom prst="rect">
            <a:avLst/>
          </a:prstGeom>
          <a:noFill/>
        </p:spPr>
        <p:txBody>
          <a:bodyPr wrap="square" anchor="ctr">
            <a:spAutoFit/>
          </a:bodyPr>
          <a:lstStyle/>
          <a:p>
            <a:pPr algn="l">
              <a:defRPr sz="2800" b="1">
                <a:solidFill>
                  <a:srgbClr val="131F3D"/>
                </a:solidFill>
              </a:defRPr>
            </a:pPr>
            <a:r>
              <a:t>Technology Stack — What Works for What?</a:t>
            </a:r>
          </a:p>
        </p:txBody>
      </p:sp>
      <p:sp>
        <p:nvSpPr>
          <p:cNvPr id="5" name="TextBox 4"/>
          <p:cNvSpPr txBox="1"/>
          <p:nvPr/>
        </p:nvSpPr>
        <p:spPr>
          <a:xfrm>
            <a:off x="11155680" y="6419088"/>
            <a:ext cx="457200" cy="228600"/>
          </a:xfrm>
          <a:prstGeom prst="rect">
            <a:avLst/>
          </a:prstGeom>
          <a:noFill/>
        </p:spPr>
        <p:txBody>
          <a:bodyPr wrap="square" anchor="ctr">
            <a:spAutoFit/>
          </a:bodyPr>
          <a:lstStyle/>
          <a:p>
            <a:pPr algn="r">
              <a:defRPr sz="1000" b="1">
                <a:solidFill>
                  <a:srgbClr val="646E7D"/>
                </a:solidFill>
              </a:defRPr>
            </a:pPr>
            <a:r>
              <a:t>05</a:t>
            </a:r>
          </a:p>
        </p:txBody>
      </p:sp>
      <p:sp>
        <p:nvSpPr>
          <p:cNvPr id="6" name="Rounded Rectangle 5"/>
          <p:cNvSpPr/>
          <p:nvPr/>
        </p:nvSpPr>
        <p:spPr>
          <a:xfrm>
            <a:off x="685800" y="1234440"/>
            <a:ext cx="1828800" cy="713232"/>
          </a:xfrm>
          <a:prstGeom prst="roundRect">
            <a:avLst/>
          </a:prstGeom>
          <a:solidFill>
            <a:srgbClr val="F28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07592"/>
            <a:ext cx="1828800" cy="256032"/>
          </a:xfrm>
          <a:prstGeom prst="rect">
            <a:avLst/>
          </a:prstGeom>
          <a:noFill/>
        </p:spPr>
        <p:txBody>
          <a:bodyPr wrap="square" anchor="ctr">
            <a:spAutoFit/>
          </a:bodyPr>
          <a:lstStyle/>
          <a:p>
            <a:pPr algn="ctr">
              <a:defRPr sz="1600" b="1">
                <a:solidFill>
                  <a:srgbClr val="FFFFFF"/>
                </a:solidFill>
              </a:defRPr>
            </a:pPr>
            <a:r>
              <a:t>HTML5</a:t>
            </a:r>
          </a:p>
        </p:txBody>
      </p:sp>
      <p:sp>
        <p:nvSpPr>
          <p:cNvPr id="8" name="TextBox 7"/>
          <p:cNvSpPr txBox="1"/>
          <p:nvPr/>
        </p:nvSpPr>
        <p:spPr>
          <a:xfrm>
            <a:off x="685800" y="1627632"/>
            <a:ext cx="1828800" cy="164592"/>
          </a:xfrm>
          <a:prstGeom prst="rect">
            <a:avLst/>
          </a:prstGeom>
          <a:noFill/>
        </p:spPr>
        <p:txBody>
          <a:bodyPr wrap="square" anchor="ctr">
            <a:spAutoFit/>
          </a:bodyPr>
          <a:lstStyle/>
          <a:p>
            <a:pPr algn="ctr">
              <a:defRPr sz="900" b="1">
                <a:solidFill>
                  <a:srgbClr val="FFFFFF"/>
                </a:solidFill>
              </a:defRPr>
            </a:pPr>
            <a:r>
              <a:t>STRUCTURE</a:t>
            </a:r>
          </a:p>
        </p:txBody>
      </p:sp>
      <p:sp>
        <p:nvSpPr>
          <p:cNvPr id="9" name="TextBox 8"/>
          <p:cNvSpPr txBox="1"/>
          <p:nvPr/>
        </p:nvSpPr>
        <p:spPr>
          <a:xfrm>
            <a:off x="2788920" y="1325880"/>
            <a:ext cx="8595360" cy="502920"/>
          </a:xfrm>
          <a:prstGeom prst="rect">
            <a:avLst/>
          </a:prstGeom>
          <a:noFill/>
        </p:spPr>
        <p:txBody>
          <a:bodyPr wrap="square" anchor="ctr">
            <a:spAutoFit/>
          </a:bodyPr>
          <a:lstStyle/>
          <a:p>
            <a:pPr algn="l">
              <a:defRPr sz="1500" b="1">
                <a:solidFill>
                  <a:srgbClr val="232832"/>
                </a:solidFill>
              </a:defRPr>
            </a:pPr>
            <a:r>
              <a:t>Creates pages, headings, buttons, forms, product cards and navigation.</a:t>
            </a:r>
          </a:p>
        </p:txBody>
      </p:sp>
      <p:sp>
        <p:nvSpPr>
          <p:cNvPr id="10" name="Rounded Rectangle 9"/>
          <p:cNvSpPr/>
          <p:nvPr/>
        </p:nvSpPr>
        <p:spPr>
          <a:xfrm>
            <a:off x="685800" y="2167128"/>
            <a:ext cx="1828800" cy="713232"/>
          </a:xfrm>
          <a:prstGeom prst="roundRect">
            <a:avLst/>
          </a:prstGeom>
          <a:solidFill>
            <a:srgbClr val="267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240280"/>
            <a:ext cx="1828800" cy="256032"/>
          </a:xfrm>
          <a:prstGeom prst="rect">
            <a:avLst/>
          </a:prstGeom>
          <a:noFill/>
        </p:spPr>
        <p:txBody>
          <a:bodyPr wrap="square" anchor="ctr">
            <a:spAutoFit/>
          </a:bodyPr>
          <a:lstStyle/>
          <a:p>
            <a:pPr algn="ctr">
              <a:defRPr sz="1600" b="1">
                <a:solidFill>
                  <a:srgbClr val="FFFFFF"/>
                </a:solidFill>
              </a:defRPr>
            </a:pPr>
            <a:r>
              <a:t>CSS3</a:t>
            </a:r>
          </a:p>
        </p:txBody>
      </p:sp>
      <p:sp>
        <p:nvSpPr>
          <p:cNvPr id="12" name="TextBox 11"/>
          <p:cNvSpPr txBox="1"/>
          <p:nvPr/>
        </p:nvSpPr>
        <p:spPr>
          <a:xfrm>
            <a:off x="685800" y="2560320"/>
            <a:ext cx="1828800" cy="164592"/>
          </a:xfrm>
          <a:prstGeom prst="rect">
            <a:avLst/>
          </a:prstGeom>
          <a:noFill/>
        </p:spPr>
        <p:txBody>
          <a:bodyPr wrap="square" anchor="ctr">
            <a:spAutoFit/>
          </a:bodyPr>
          <a:lstStyle/>
          <a:p>
            <a:pPr algn="ctr">
              <a:defRPr sz="900" b="1">
                <a:solidFill>
                  <a:srgbClr val="FFFFFF"/>
                </a:solidFill>
              </a:defRPr>
            </a:pPr>
            <a:r>
              <a:t>DESIGN</a:t>
            </a:r>
          </a:p>
        </p:txBody>
      </p:sp>
      <p:sp>
        <p:nvSpPr>
          <p:cNvPr id="13" name="TextBox 12"/>
          <p:cNvSpPr txBox="1"/>
          <p:nvPr/>
        </p:nvSpPr>
        <p:spPr>
          <a:xfrm>
            <a:off x="2788920" y="2258568"/>
            <a:ext cx="8595360" cy="502920"/>
          </a:xfrm>
          <a:prstGeom prst="rect">
            <a:avLst/>
          </a:prstGeom>
          <a:noFill/>
        </p:spPr>
        <p:txBody>
          <a:bodyPr wrap="square" anchor="ctr">
            <a:spAutoFit/>
          </a:bodyPr>
          <a:lstStyle/>
          <a:p>
            <a:pPr algn="l">
              <a:defRPr sz="1500" b="1">
                <a:solidFill>
                  <a:srgbClr val="232832"/>
                </a:solidFill>
              </a:defRPr>
            </a:pPr>
            <a:r>
              <a:t>Controls colors, fonts, spacing, layouts, animations and responsive design.</a:t>
            </a:r>
          </a:p>
        </p:txBody>
      </p:sp>
      <p:sp>
        <p:nvSpPr>
          <p:cNvPr id="14" name="Rounded Rectangle 13"/>
          <p:cNvSpPr/>
          <p:nvPr/>
        </p:nvSpPr>
        <p:spPr>
          <a:xfrm>
            <a:off x="685800" y="3099816"/>
            <a:ext cx="1828800" cy="713232"/>
          </a:xfrm>
          <a:prstGeom prst="roundRect">
            <a:avLst/>
          </a:prstGeom>
          <a:solidFill>
            <a:srgbClr val="755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3172968"/>
            <a:ext cx="1828800" cy="256032"/>
          </a:xfrm>
          <a:prstGeom prst="rect">
            <a:avLst/>
          </a:prstGeom>
          <a:noFill/>
        </p:spPr>
        <p:txBody>
          <a:bodyPr wrap="square" anchor="ctr">
            <a:spAutoFit/>
          </a:bodyPr>
          <a:lstStyle/>
          <a:p>
            <a:pPr algn="ctr">
              <a:defRPr sz="1600" b="1">
                <a:solidFill>
                  <a:srgbClr val="FFFFFF"/>
                </a:solidFill>
              </a:defRPr>
            </a:pPr>
            <a:r>
              <a:t>JavaScript</a:t>
            </a:r>
          </a:p>
        </p:txBody>
      </p:sp>
      <p:sp>
        <p:nvSpPr>
          <p:cNvPr id="16" name="TextBox 15"/>
          <p:cNvSpPr txBox="1"/>
          <p:nvPr/>
        </p:nvSpPr>
        <p:spPr>
          <a:xfrm>
            <a:off x="685800" y="3493008"/>
            <a:ext cx="1828800" cy="164592"/>
          </a:xfrm>
          <a:prstGeom prst="rect">
            <a:avLst/>
          </a:prstGeom>
          <a:noFill/>
        </p:spPr>
        <p:txBody>
          <a:bodyPr wrap="square" anchor="ctr">
            <a:spAutoFit/>
          </a:bodyPr>
          <a:lstStyle/>
          <a:p>
            <a:pPr algn="ctr">
              <a:defRPr sz="900" b="1">
                <a:solidFill>
                  <a:srgbClr val="FFFFFF"/>
                </a:solidFill>
              </a:defRPr>
            </a:pPr>
            <a:r>
              <a:t>BEHAVIOR</a:t>
            </a:r>
          </a:p>
        </p:txBody>
      </p:sp>
      <p:sp>
        <p:nvSpPr>
          <p:cNvPr id="17" name="TextBox 16"/>
          <p:cNvSpPr txBox="1"/>
          <p:nvPr/>
        </p:nvSpPr>
        <p:spPr>
          <a:xfrm>
            <a:off x="2788920" y="3191256"/>
            <a:ext cx="8595360" cy="502920"/>
          </a:xfrm>
          <a:prstGeom prst="rect">
            <a:avLst/>
          </a:prstGeom>
          <a:noFill/>
        </p:spPr>
        <p:txBody>
          <a:bodyPr wrap="square" anchor="ctr">
            <a:spAutoFit/>
          </a:bodyPr>
          <a:lstStyle/>
          <a:p>
            <a:pPr algn="l">
              <a:defRPr sz="1500" b="1">
                <a:solidFill>
                  <a:srgbClr val="232832"/>
                </a:solidFill>
              </a:defRPr>
            </a:pPr>
            <a:r>
              <a:t>Handles login logic, cart actions, calculations, validation and interactions.</a:t>
            </a:r>
          </a:p>
        </p:txBody>
      </p:sp>
      <p:sp>
        <p:nvSpPr>
          <p:cNvPr id="18" name="Rounded Rectangle 17"/>
          <p:cNvSpPr/>
          <p:nvPr/>
        </p:nvSpPr>
        <p:spPr>
          <a:xfrm>
            <a:off x="685800" y="4032504"/>
            <a:ext cx="1828800" cy="713232"/>
          </a:xfrm>
          <a:prstGeom prst="roundRect">
            <a:avLst/>
          </a:prstGeom>
          <a:solidFill>
            <a:srgbClr val="22B7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 y="4105656"/>
            <a:ext cx="1828800" cy="256032"/>
          </a:xfrm>
          <a:prstGeom prst="rect">
            <a:avLst/>
          </a:prstGeom>
          <a:noFill/>
        </p:spPr>
        <p:txBody>
          <a:bodyPr wrap="square" anchor="ctr">
            <a:spAutoFit/>
          </a:bodyPr>
          <a:lstStyle/>
          <a:p>
            <a:pPr algn="ctr">
              <a:defRPr sz="1600" b="1">
                <a:solidFill>
                  <a:srgbClr val="FFFFFF"/>
                </a:solidFill>
              </a:defRPr>
            </a:pPr>
            <a:r>
              <a:t>VS CODE</a:t>
            </a:r>
          </a:p>
        </p:txBody>
      </p:sp>
      <p:sp>
        <p:nvSpPr>
          <p:cNvPr id="20" name="TextBox 19"/>
          <p:cNvSpPr txBox="1"/>
          <p:nvPr/>
        </p:nvSpPr>
        <p:spPr>
          <a:xfrm>
            <a:off x="685800" y="4425696"/>
            <a:ext cx="1828800" cy="164592"/>
          </a:xfrm>
          <a:prstGeom prst="rect">
            <a:avLst/>
          </a:prstGeom>
          <a:noFill/>
        </p:spPr>
        <p:txBody>
          <a:bodyPr wrap="square" anchor="ctr">
            <a:spAutoFit/>
          </a:bodyPr>
          <a:lstStyle/>
          <a:p>
            <a:pPr algn="ctr">
              <a:defRPr sz="900" b="1">
                <a:solidFill>
                  <a:srgbClr val="FFFFFF"/>
                </a:solidFill>
              </a:defRPr>
            </a:pPr>
            <a:r>
              <a:t>DEVELOPMENT</a:t>
            </a:r>
          </a:p>
        </p:txBody>
      </p:sp>
      <p:sp>
        <p:nvSpPr>
          <p:cNvPr id="21" name="TextBox 20"/>
          <p:cNvSpPr txBox="1"/>
          <p:nvPr/>
        </p:nvSpPr>
        <p:spPr>
          <a:xfrm>
            <a:off x="2788920" y="4123944"/>
            <a:ext cx="8595360" cy="502920"/>
          </a:xfrm>
          <a:prstGeom prst="rect">
            <a:avLst/>
          </a:prstGeom>
          <a:noFill/>
        </p:spPr>
        <p:txBody>
          <a:bodyPr wrap="square" anchor="ctr">
            <a:spAutoFit/>
          </a:bodyPr>
          <a:lstStyle/>
          <a:p>
            <a:pPr algn="l">
              <a:defRPr sz="1500" b="1">
                <a:solidFill>
                  <a:srgbClr val="232832"/>
                </a:solidFill>
              </a:defRPr>
            </a:pPr>
            <a:r>
              <a:t>Used to write, organize, edit and test project files.</a:t>
            </a:r>
          </a:p>
        </p:txBody>
      </p:sp>
      <p:sp>
        <p:nvSpPr>
          <p:cNvPr id="22" name="Rounded Rectangle 21"/>
          <p:cNvSpPr/>
          <p:nvPr/>
        </p:nvSpPr>
        <p:spPr>
          <a:xfrm>
            <a:off x="685800" y="4965192"/>
            <a:ext cx="1828800" cy="713232"/>
          </a:xfrm>
          <a:prstGeom prst="roundRect">
            <a:avLst/>
          </a:prstGeom>
          <a:solidFill>
            <a:srgbClr val="31A3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5800" y="5038344"/>
            <a:ext cx="1828800" cy="256032"/>
          </a:xfrm>
          <a:prstGeom prst="rect">
            <a:avLst/>
          </a:prstGeom>
          <a:noFill/>
        </p:spPr>
        <p:txBody>
          <a:bodyPr wrap="square" anchor="ctr">
            <a:spAutoFit/>
          </a:bodyPr>
          <a:lstStyle/>
          <a:p>
            <a:pPr algn="ctr">
              <a:defRPr sz="1600" b="1">
                <a:solidFill>
                  <a:srgbClr val="FFFFFF"/>
                </a:solidFill>
              </a:defRPr>
            </a:pPr>
            <a:r>
              <a:t>GITHUB</a:t>
            </a:r>
          </a:p>
        </p:txBody>
      </p:sp>
      <p:sp>
        <p:nvSpPr>
          <p:cNvPr id="24" name="TextBox 23"/>
          <p:cNvSpPr txBox="1"/>
          <p:nvPr/>
        </p:nvSpPr>
        <p:spPr>
          <a:xfrm>
            <a:off x="685800" y="5358383"/>
            <a:ext cx="1828800" cy="164592"/>
          </a:xfrm>
          <a:prstGeom prst="rect">
            <a:avLst/>
          </a:prstGeom>
          <a:noFill/>
        </p:spPr>
        <p:txBody>
          <a:bodyPr wrap="square" anchor="ctr">
            <a:spAutoFit/>
          </a:bodyPr>
          <a:lstStyle/>
          <a:p>
            <a:pPr algn="ctr">
              <a:defRPr sz="900" b="1">
                <a:solidFill>
                  <a:srgbClr val="FFFFFF"/>
                </a:solidFill>
              </a:defRPr>
            </a:pPr>
            <a:r>
              <a:t>COLLABORATION</a:t>
            </a:r>
          </a:p>
        </p:txBody>
      </p:sp>
      <p:sp>
        <p:nvSpPr>
          <p:cNvPr id="25" name="TextBox 24"/>
          <p:cNvSpPr txBox="1"/>
          <p:nvPr/>
        </p:nvSpPr>
        <p:spPr>
          <a:xfrm>
            <a:off x="2788920" y="5056631"/>
            <a:ext cx="8595360" cy="502920"/>
          </a:xfrm>
          <a:prstGeom prst="rect">
            <a:avLst/>
          </a:prstGeom>
          <a:noFill/>
        </p:spPr>
        <p:txBody>
          <a:bodyPr wrap="square" anchor="ctr">
            <a:spAutoFit/>
          </a:bodyPr>
          <a:lstStyle/>
          <a:p>
            <a:pPr algn="l">
              <a:defRPr sz="1500" b="1">
                <a:solidFill>
                  <a:srgbClr val="232832"/>
                </a:solidFill>
              </a:defRPr>
            </a:pPr>
            <a:r>
              <a:t>Stores project code and supports team version control.</a:t>
            </a:r>
          </a:p>
        </p:txBody>
      </p:sp>
      <p:sp>
        <p:nvSpPr>
          <p:cNvPr id="26" name="TextBox 25"/>
          <p:cNvSpPr txBox="1"/>
          <p:nvPr/>
        </p:nvSpPr>
        <p:spPr>
          <a:xfrm>
            <a:off x="1828800" y="5989320"/>
            <a:ext cx="8503920" cy="274320"/>
          </a:xfrm>
          <a:prstGeom prst="rect">
            <a:avLst/>
          </a:prstGeom>
          <a:noFill/>
        </p:spPr>
        <p:txBody>
          <a:bodyPr wrap="square" anchor="ctr">
            <a:spAutoFit/>
          </a:bodyPr>
          <a:lstStyle/>
          <a:p>
            <a:pPr algn="ctr">
              <a:defRPr sz="1400" b="1">
                <a:solidFill>
                  <a:srgbClr val="131F3D"/>
                </a:solidFill>
              </a:defRPr>
            </a:pPr>
            <a:r>
              <a:t>Technology flow: HTML → CSS → JavaScript → GitHub collaboration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67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3657600" cy="274320"/>
          </a:xfrm>
          <a:prstGeom prst="rect">
            <a:avLst/>
          </a:prstGeom>
          <a:noFill/>
        </p:spPr>
        <p:txBody>
          <a:bodyPr wrap="square" anchor="ctr">
            <a:spAutoFit/>
          </a:bodyPr>
          <a:lstStyle/>
          <a:p>
            <a:pPr algn="l">
              <a:defRPr sz="1000" b="1">
                <a:solidFill>
                  <a:srgbClr val="2670DC"/>
                </a:solidFill>
              </a:defRPr>
            </a:pPr>
            <a:r>
              <a:t>05 • FEATURES</a:t>
            </a:r>
          </a:p>
        </p:txBody>
      </p:sp>
      <p:sp>
        <p:nvSpPr>
          <p:cNvPr id="4" name="TextBox 3"/>
          <p:cNvSpPr txBox="1"/>
          <p:nvPr/>
        </p:nvSpPr>
        <p:spPr>
          <a:xfrm>
            <a:off x="594360" y="566928"/>
            <a:ext cx="10515600" cy="548640"/>
          </a:xfrm>
          <a:prstGeom prst="rect">
            <a:avLst/>
          </a:prstGeom>
          <a:noFill/>
        </p:spPr>
        <p:txBody>
          <a:bodyPr wrap="square" anchor="ctr">
            <a:spAutoFit/>
          </a:bodyPr>
          <a:lstStyle/>
          <a:p>
            <a:pPr algn="l">
              <a:defRPr sz="2800" b="1">
                <a:solidFill>
                  <a:srgbClr val="131F3D"/>
                </a:solidFill>
              </a:defRPr>
            </a:pPr>
            <a:r>
              <a:t>Main Features</a:t>
            </a:r>
          </a:p>
        </p:txBody>
      </p:sp>
      <p:sp>
        <p:nvSpPr>
          <p:cNvPr id="5" name="TextBox 4"/>
          <p:cNvSpPr txBox="1"/>
          <p:nvPr/>
        </p:nvSpPr>
        <p:spPr>
          <a:xfrm>
            <a:off x="11155680" y="6419088"/>
            <a:ext cx="457200" cy="228600"/>
          </a:xfrm>
          <a:prstGeom prst="rect">
            <a:avLst/>
          </a:prstGeom>
          <a:noFill/>
        </p:spPr>
        <p:txBody>
          <a:bodyPr wrap="square" anchor="ctr">
            <a:spAutoFit/>
          </a:bodyPr>
          <a:lstStyle/>
          <a:p>
            <a:pPr algn="r">
              <a:defRPr sz="1000" b="1">
                <a:solidFill>
                  <a:srgbClr val="646E7D"/>
                </a:solidFill>
              </a:defRPr>
            </a:pPr>
            <a:r>
              <a:t>09</a:t>
            </a:r>
          </a:p>
        </p:txBody>
      </p:sp>
      <p:sp>
        <p:nvSpPr>
          <p:cNvPr id="6" name="Rounded Rectangle 5"/>
          <p:cNvSpPr/>
          <p:nvPr/>
        </p:nvSpPr>
        <p:spPr>
          <a:xfrm>
            <a:off x="502920" y="1280160"/>
            <a:ext cx="2514600" cy="1783080"/>
          </a:xfrm>
          <a:prstGeom prst="roundRect">
            <a:avLst/>
          </a:prstGeom>
          <a:solidFill>
            <a:srgbClr val="FFFFFF"/>
          </a:solidFill>
          <a:ln>
            <a:solidFill>
              <a:srgbClr val="DE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280160"/>
            <a:ext cx="73152" cy="1783080"/>
          </a:xfrm>
          <a:prstGeom prst="rect">
            <a:avLst/>
          </a:prstGeom>
          <a:solidFill>
            <a:srgbClr val="267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444751"/>
            <a:ext cx="2103120" cy="320040"/>
          </a:xfrm>
          <a:prstGeom prst="rect">
            <a:avLst/>
          </a:prstGeom>
          <a:noFill/>
        </p:spPr>
        <p:txBody>
          <a:bodyPr wrap="square" anchor="ctr">
            <a:spAutoFit/>
          </a:bodyPr>
          <a:lstStyle/>
          <a:p>
            <a:pPr algn="l">
              <a:defRPr sz="1500" b="1">
                <a:solidFill>
                  <a:srgbClr val="131F3D"/>
                </a:solidFill>
              </a:defRPr>
            </a:pPr>
            <a:r>
              <a:t>PRODUCT CATEGORIES</a:t>
            </a:r>
          </a:p>
        </p:txBody>
      </p:sp>
      <p:sp>
        <p:nvSpPr>
          <p:cNvPr id="9" name="TextBox 8"/>
          <p:cNvSpPr txBox="1"/>
          <p:nvPr/>
        </p:nvSpPr>
        <p:spPr>
          <a:xfrm>
            <a:off x="731520" y="1847088"/>
            <a:ext cx="2103120" cy="1124712"/>
          </a:xfrm>
          <a:prstGeom prst="rect">
            <a:avLst/>
          </a:prstGeom>
          <a:noFill/>
        </p:spPr>
        <p:txBody>
          <a:bodyPr wrap="square" anchor="ctr">
            <a:spAutoFit/>
          </a:bodyPr>
          <a:lstStyle/>
          <a:p>
            <a:pPr algn="l">
              <a:defRPr sz="1150" b="0">
                <a:solidFill>
                  <a:srgbClr val="646E7D"/>
                </a:solidFill>
              </a:defRPr>
            </a:pPr>
            <a:r>
              <a:t>Men, Women, Electronics, Home Needs and more.</a:t>
            </a:r>
          </a:p>
        </p:txBody>
      </p:sp>
      <p:sp>
        <p:nvSpPr>
          <p:cNvPr id="10" name="Rounded Rectangle 9"/>
          <p:cNvSpPr/>
          <p:nvPr/>
        </p:nvSpPr>
        <p:spPr>
          <a:xfrm>
            <a:off x="3383280" y="1280160"/>
            <a:ext cx="2514600" cy="1783080"/>
          </a:xfrm>
          <a:prstGeom prst="roundRect">
            <a:avLst/>
          </a:prstGeom>
          <a:solidFill>
            <a:srgbClr val="FFFFFF"/>
          </a:solidFill>
          <a:ln>
            <a:solidFill>
              <a:srgbClr val="DE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383280" y="1280160"/>
            <a:ext cx="73152" cy="1783080"/>
          </a:xfrm>
          <a:prstGeom prst="rect">
            <a:avLst/>
          </a:prstGeom>
          <a:solidFill>
            <a:srgbClr val="22B7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11880" y="1444751"/>
            <a:ext cx="2103120" cy="320040"/>
          </a:xfrm>
          <a:prstGeom prst="rect">
            <a:avLst/>
          </a:prstGeom>
          <a:noFill/>
        </p:spPr>
        <p:txBody>
          <a:bodyPr wrap="square" anchor="ctr">
            <a:spAutoFit/>
          </a:bodyPr>
          <a:lstStyle/>
          <a:p>
            <a:pPr algn="l">
              <a:defRPr sz="1500" b="1">
                <a:solidFill>
                  <a:srgbClr val="131F3D"/>
                </a:solidFill>
              </a:defRPr>
            </a:pPr>
            <a:r>
              <a:t>SEARCH</a:t>
            </a:r>
          </a:p>
        </p:txBody>
      </p:sp>
      <p:sp>
        <p:nvSpPr>
          <p:cNvPr id="13" name="TextBox 12"/>
          <p:cNvSpPr txBox="1"/>
          <p:nvPr/>
        </p:nvSpPr>
        <p:spPr>
          <a:xfrm>
            <a:off x="3611880" y="1847088"/>
            <a:ext cx="2103120" cy="1124712"/>
          </a:xfrm>
          <a:prstGeom prst="rect">
            <a:avLst/>
          </a:prstGeom>
          <a:noFill/>
        </p:spPr>
        <p:txBody>
          <a:bodyPr wrap="square" anchor="ctr">
            <a:spAutoFit/>
          </a:bodyPr>
          <a:lstStyle/>
          <a:p>
            <a:pPr algn="l">
              <a:defRPr sz="1150" b="0">
                <a:solidFill>
                  <a:srgbClr val="646E7D"/>
                </a:solidFill>
              </a:defRPr>
            </a:pPr>
            <a:r>
              <a:t>Find products quickly.</a:t>
            </a:r>
          </a:p>
        </p:txBody>
      </p:sp>
      <p:sp>
        <p:nvSpPr>
          <p:cNvPr id="14" name="Rounded Rectangle 13"/>
          <p:cNvSpPr/>
          <p:nvPr/>
        </p:nvSpPr>
        <p:spPr>
          <a:xfrm>
            <a:off x="6263640" y="1280160"/>
            <a:ext cx="2514600" cy="1783080"/>
          </a:xfrm>
          <a:prstGeom prst="roundRect">
            <a:avLst/>
          </a:prstGeom>
          <a:solidFill>
            <a:srgbClr val="FFFFFF"/>
          </a:solidFill>
          <a:ln>
            <a:solidFill>
              <a:srgbClr val="DE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63640" y="1280160"/>
            <a:ext cx="73152" cy="1783080"/>
          </a:xfrm>
          <a:prstGeom prst="rect">
            <a:avLst/>
          </a:prstGeom>
          <a:solidFill>
            <a:srgbClr val="755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92240" y="1444751"/>
            <a:ext cx="2103120" cy="320040"/>
          </a:xfrm>
          <a:prstGeom prst="rect">
            <a:avLst/>
          </a:prstGeom>
          <a:noFill/>
        </p:spPr>
        <p:txBody>
          <a:bodyPr wrap="square" anchor="ctr">
            <a:spAutoFit/>
          </a:bodyPr>
          <a:lstStyle/>
          <a:p>
            <a:pPr algn="l">
              <a:defRPr sz="1500" b="1">
                <a:solidFill>
                  <a:srgbClr val="131F3D"/>
                </a:solidFill>
              </a:defRPr>
            </a:pPr>
            <a:r>
              <a:t>SIZE &amp; QUANTITY</a:t>
            </a:r>
          </a:p>
        </p:txBody>
      </p:sp>
      <p:sp>
        <p:nvSpPr>
          <p:cNvPr id="17" name="TextBox 16"/>
          <p:cNvSpPr txBox="1"/>
          <p:nvPr/>
        </p:nvSpPr>
        <p:spPr>
          <a:xfrm>
            <a:off x="6492240" y="1847088"/>
            <a:ext cx="2103120" cy="1124712"/>
          </a:xfrm>
          <a:prstGeom prst="rect">
            <a:avLst/>
          </a:prstGeom>
          <a:noFill/>
        </p:spPr>
        <p:txBody>
          <a:bodyPr wrap="square" anchor="ctr">
            <a:spAutoFit/>
          </a:bodyPr>
          <a:lstStyle/>
          <a:p>
            <a:pPr algn="l">
              <a:defRPr sz="1150" b="0">
                <a:solidFill>
                  <a:srgbClr val="646E7D"/>
                </a:solidFill>
              </a:defRPr>
            </a:pPr>
            <a:r>
              <a:t>Choose product variations before adding to cart.</a:t>
            </a:r>
          </a:p>
        </p:txBody>
      </p:sp>
      <p:sp>
        <p:nvSpPr>
          <p:cNvPr id="18" name="Rounded Rectangle 17"/>
          <p:cNvSpPr/>
          <p:nvPr/>
        </p:nvSpPr>
        <p:spPr>
          <a:xfrm>
            <a:off x="9144000" y="1280160"/>
            <a:ext cx="2514600" cy="1783080"/>
          </a:xfrm>
          <a:prstGeom prst="roundRect">
            <a:avLst/>
          </a:prstGeom>
          <a:solidFill>
            <a:srgbClr val="FFFFFF"/>
          </a:solidFill>
          <a:ln>
            <a:solidFill>
              <a:srgbClr val="DE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144000" y="1280160"/>
            <a:ext cx="73152" cy="1783080"/>
          </a:xfrm>
          <a:prstGeom prst="rect">
            <a:avLst/>
          </a:prstGeom>
          <a:solidFill>
            <a:srgbClr val="F28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372600" y="1444751"/>
            <a:ext cx="2103120" cy="320040"/>
          </a:xfrm>
          <a:prstGeom prst="rect">
            <a:avLst/>
          </a:prstGeom>
          <a:noFill/>
        </p:spPr>
        <p:txBody>
          <a:bodyPr wrap="square" anchor="ctr">
            <a:spAutoFit/>
          </a:bodyPr>
          <a:lstStyle/>
          <a:p>
            <a:pPr algn="l">
              <a:defRPr sz="1500" b="1">
                <a:solidFill>
                  <a:srgbClr val="131F3D"/>
                </a:solidFill>
              </a:defRPr>
            </a:pPr>
            <a:r>
              <a:t>CART</a:t>
            </a:r>
          </a:p>
        </p:txBody>
      </p:sp>
      <p:sp>
        <p:nvSpPr>
          <p:cNvPr id="21" name="TextBox 20"/>
          <p:cNvSpPr txBox="1"/>
          <p:nvPr/>
        </p:nvSpPr>
        <p:spPr>
          <a:xfrm>
            <a:off x="9372600" y="1847088"/>
            <a:ext cx="2103120" cy="1124712"/>
          </a:xfrm>
          <a:prstGeom prst="rect">
            <a:avLst/>
          </a:prstGeom>
          <a:noFill/>
        </p:spPr>
        <p:txBody>
          <a:bodyPr wrap="square" anchor="ctr">
            <a:spAutoFit/>
          </a:bodyPr>
          <a:lstStyle/>
          <a:p>
            <a:pPr algn="l">
              <a:defRPr sz="1150" b="0">
                <a:solidFill>
                  <a:srgbClr val="646E7D"/>
                </a:solidFill>
              </a:defRPr>
            </a:pPr>
            <a:r>
              <a:t>Review selected items and quantities.</a:t>
            </a:r>
          </a:p>
        </p:txBody>
      </p:sp>
      <p:sp>
        <p:nvSpPr>
          <p:cNvPr id="22" name="Rounded Rectangle 21"/>
          <p:cNvSpPr/>
          <p:nvPr/>
        </p:nvSpPr>
        <p:spPr>
          <a:xfrm>
            <a:off x="502920" y="3520440"/>
            <a:ext cx="2514600" cy="1783080"/>
          </a:xfrm>
          <a:prstGeom prst="roundRect">
            <a:avLst/>
          </a:prstGeom>
          <a:solidFill>
            <a:srgbClr val="FFFFFF"/>
          </a:solidFill>
          <a:ln>
            <a:solidFill>
              <a:srgbClr val="DE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02920" y="3520440"/>
            <a:ext cx="73152" cy="1783080"/>
          </a:xfrm>
          <a:prstGeom prst="rect">
            <a:avLst/>
          </a:prstGeom>
          <a:solidFill>
            <a:srgbClr val="31A3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1520" y="3685032"/>
            <a:ext cx="2103120" cy="320040"/>
          </a:xfrm>
          <a:prstGeom prst="rect">
            <a:avLst/>
          </a:prstGeom>
          <a:noFill/>
        </p:spPr>
        <p:txBody>
          <a:bodyPr wrap="square" anchor="ctr">
            <a:spAutoFit/>
          </a:bodyPr>
          <a:lstStyle/>
          <a:p>
            <a:pPr algn="l">
              <a:defRPr sz="1500" b="1">
                <a:solidFill>
                  <a:srgbClr val="131F3D"/>
                </a:solidFill>
              </a:defRPr>
            </a:pPr>
            <a:r>
              <a:t>AUTO BILLING</a:t>
            </a:r>
          </a:p>
        </p:txBody>
      </p:sp>
      <p:sp>
        <p:nvSpPr>
          <p:cNvPr id="25" name="TextBox 24"/>
          <p:cNvSpPr txBox="1"/>
          <p:nvPr/>
        </p:nvSpPr>
        <p:spPr>
          <a:xfrm>
            <a:off x="731520" y="4087368"/>
            <a:ext cx="2103120" cy="1124712"/>
          </a:xfrm>
          <a:prstGeom prst="rect">
            <a:avLst/>
          </a:prstGeom>
          <a:noFill/>
        </p:spPr>
        <p:txBody>
          <a:bodyPr wrap="square" anchor="ctr">
            <a:spAutoFit/>
          </a:bodyPr>
          <a:lstStyle/>
          <a:p>
            <a:pPr algn="l">
              <a:defRPr sz="1150" b="0">
                <a:solidFill>
                  <a:srgbClr val="646E7D"/>
                </a:solidFill>
              </a:defRPr>
            </a:pPr>
            <a:r>
              <a:t>Calculate subtotal and total dynamically.</a:t>
            </a:r>
          </a:p>
        </p:txBody>
      </p:sp>
      <p:sp>
        <p:nvSpPr>
          <p:cNvPr id="26" name="Rounded Rectangle 25"/>
          <p:cNvSpPr/>
          <p:nvPr/>
        </p:nvSpPr>
        <p:spPr>
          <a:xfrm>
            <a:off x="3383280" y="3520440"/>
            <a:ext cx="2514600" cy="1783080"/>
          </a:xfrm>
          <a:prstGeom prst="roundRect">
            <a:avLst/>
          </a:prstGeom>
          <a:solidFill>
            <a:srgbClr val="FFFFFF"/>
          </a:solidFill>
          <a:ln>
            <a:solidFill>
              <a:srgbClr val="DE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383280" y="3520440"/>
            <a:ext cx="73152" cy="1783080"/>
          </a:xfrm>
          <a:prstGeom prst="rect">
            <a:avLst/>
          </a:prstGeom>
          <a:solidFill>
            <a:srgbClr val="131F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11880" y="3685032"/>
            <a:ext cx="2103120" cy="320040"/>
          </a:xfrm>
          <a:prstGeom prst="rect">
            <a:avLst/>
          </a:prstGeom>
          <a:noFill/>
        </p:spPr>
        <p:txBody>
          <a:bodyPr wrap="square" anchor="ctr">
            <a:spAutoFit/>
          </a:bodyPr>
          <a:lstStyle/>
          <a:p>
            <a:pPr algn="l">
              <a:defRPr sz="1500" b="1">
                <a:solidFill>
                  <a:srgbClr val="131F3D"/>
                </a:solidFill>
              </a:defRPr>
            </a:pPr>
            <a:r>
              <a:t>LOGIN</a:t>
            </a:r>
          </a:p>
        </p:txBody>
      </p:sp>
      <p:sp>
        <p:nvSpPr>
          <p:cNvPr id="29" name="TextBox 28"/>
          <p:cNvSpPr txBox="1"/>
          <p:nvPr/>
        </p:nvSpPr>
        <p:spPr>
          <a:xfrm>
            <a:off x="3611880" y="4087368"/>
            <a:ext cx="2103120" cy="1124712"/>
          </a:xfrm>
          <a:prstGeom prst="rect">
            <a:avLst/>
          </a:prstGeom>
          <a:noFill/>
        </p:spPr>
        <p:txBody>
          <a:bodyPr wrap="square" anchor="ctr">
            <a:spAutoFit/>
          </a:bodyPr>
          <a:lstStyle/>
          <a:p>
            <a:pPr algn="l">
              <a:defRPr sz="1150" b="0">
                <a:solidFill>
                  <a:srgbClr val="646E7D"/>
                </a:solidFill>
              </a:defRPr>
            </a:pPr>
            <a:r>
              <a:t>Basic user account interface.</a:t>
            </a:r>
          </a:p>
        </p:txBody>
      </p:sp>
      <p:sp>
        <p:nvSpPr>
          <p:cNvPr id="30" name="Rounded Rectangle 29"/>
          <p:cNvSpPr/>
          <p:nvPr/>
        </p:nvSpPr>
        <p:spPr>
          <a:xfrm>
            <a:off x="6263640" y="3520440"/>
            <a:ext cx="2514600" cy="1783080"/>
          </a:xfrm>
          <a:prstGeom prst="roundRect">
            <a:avLst/>
          </a:prstGeom>
          <a:solidFill>
            <a:srgbClr val="FFFFFF"/>
          </a:solidFill>
          <a:ln>
            <a:solidFill>
              <a:srgbClr val="DE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263640" y="3520440"/>
            <a:ext cx="73152" cy="1783080"/>
          </a:xfrm>
          <a:prstGeom prst="rect">
            <a:avLst/>
          </a:prstGeom>
          <a:solidFill>
            <a:srgbClr val="267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92240" y="3685032"/>
            <a:ext cx="2103120" cy="320040"/>
          </a:xfrm>
          <a:prstGeom prst="rect">
            <a:avLst/>
          </a:prstGeom>
          <a:noFill/>
        </p:spPr>
        <p:txBody>
          <a:bodyPr wrap="square" anchor="ctr">
            <a:spAutoFit/>
          </a:bodyPr>
          <a:lstStyle/>
          <a:p>
            <a:pPr algn="l">
              <a:defRPr sz="1500" b="1">
                <a:solidFill>
                  <a:srgbClr val="131F3D"/>
                </a:solidFill>
              </a:defRPr>
            </a:pPr>
            <a:r>
              <a:t>CHECKOUT</a:t>
            </a:r>
          </a:p>
        </p:txBody>
      </p:sp>
      <p:sp>
        <p:nvSpPr>
          <p:cNvPr id="33" name="TextBox 32"/>
          <p:cNvSpPr txBox="1"/>
          <p:nvPr/>
        </p:nvSpPr>
        <p:spPr>
          <a:xfrm>
            <a:off x="6492240" y="4087368"/>
            <a:ext cx="2103120" cy="1124712"/>
          </a:xfrm>
          <a:prstGeom prst="rect">
            <a:avLst/>
          </a:prstGeom>
          <a:noFill/>
        </p:spPr>
        <p:txBody>
          <a:bodyPr wrap="square" anchor="ctr">
            <a:spAutoFit/>
          </a:bodyPr>
          <a:lstStyle/>
          <a:p>
            <a:pPr algn="l">
              <a:defRPr sz="1150" b="0">
                <a:solidFill>
                  <a:srgbClr val="646E7D"/>
                </a:solidFill>
              </a:defRPr>
            </a:pPr>
            <a:r>
              <a:t>Collect required order details.</a:t>
            </a:r>
          </a:p>
        </p:txBody>
      </p:sp>
      <p:sp>
        <p:nvSpPr>
          <p:cNvPr id="34" name="Rounded Rectangle 33"/>
          <p:cNvSpPr/>
          <p:nvPr/>
        </p:nvSpPr>
        <p:spPr>
          <a:xfrm>
            <a:off x="9144000" y="3520440"/>
            <a:ext cx="2514600" cy="1783080"/>
          </a:xfrm>
          <a:prstGeom prst="roundRect">
            <a:avLst/>
          </a:prstGeom>
          <a:solidFill>
            <a:srgbClr val="FFFFFF"/>
          </a:solidFill>
          <a:ln>
            <a:solidFill>
              <a:srgbClr val="DE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9144000" y="3520440"/>
            <a:ext cx="73152" cy="1783080"/>
          </a:xfrm>
          <a:prstGeom prst="rect">
            <a:avLst/>
          </a:prstGeom>
          <a:solidFill>
            <a:srgbClr val="755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372600" y="3685032"/>
            <a:ext cx="2103120" cy="320040"/>
          </a:xfrm>
          <a:prstGeom prst="rect">
            <a:avLst/>
          </a:prstGeom>
          <a:noFill/>
        </p:spPr>
        <p:txBody>
          <a:bodyPr wrap="square" anchor="ctr">
            <a:spAutoFit/>
          </a:bodyPr>
          <a:lstStyle/>
          <a:p>
            <a:pPr algn="l">
              <a:defRPr sz="1500" b="1">
                <a:solidFill>
                  <a:srgbClr val="131F3D"/>
                </a:solidFill>
              </a:defRPr>
            </a:pPr>
            <a:r>
              <a:t>PAYMENT UI</a:t>
            </a:r>
          </a:p>
        </p:txBody>
      </p:sp>
      <p:sp>
        <p:nvSpPr>
          <p:cNvPr id="37" name="TextBox 36"/>
          <p:cNvSpPr txBox="1"/>
          <p:nvPr/>
        </p:nvSpPr>
        <p:spPr>
          <a:xfrm>
            <a:off x="9372600" y="4087368"/>
            <a:ext cx="2103120" cy="1124712"/>
          </a:xfrm>
          <a:prstGeom prst="rect">
            <a:avLst/>
          </a:prstGeom>
          <a:noFill/>
        </p:spPr>
        <p:txBody>
          <a:bodyPr wrap="square" anchor="ctr">
            <a:spAutoFit/>
          </a:bodyPr>
          <a:lstStyle/>
          <a:p>
            <a:pPr algn="l">
              <a:defRPr sz="1150" b="0">
                <a:solidFill>
                  <a:srgbClr val="646E7D"/>
                </a:solidFill>
              </a:defRPr>
            </a:pPr>
            <a:r>
              <a:t>Provide a payment-selection step.</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67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3657600" cy="274320"/>
          </a:xfrm>
          <a:prstGeom prst="rect">
            <a:avLst/>
          </a:prstGeom>
          <a:noFill/>
        </p:spPr>
        <p:txBody>
          <a:bodyPr wrap="square" anchor="ctr">
            <a:spAutoFit/>
          </a:bodyPr>
          <a:lstStyle/>
          <a:p>
            <a:pPr algn="l">
              <a:defRPr sz="1000" b="1">
                <a:solidFill>
                  <a:srgbClr val="2670DC"/>
                </a:solidFill>
              </a:defRPr>
            </a:pPr>
            <a:r>
              <a:t>06 • BENEFITS</a:t>
            </a:r>
          </a:p>
        </p:txBody>
      </p:sp>
      <p:sp>
        <p:nvSpPr>
          <p:cNvPr id="4" name="TextBox 3"/>
          <p:cNvSpPr txBox="1"/>
          <p:nvPr/>
        </p:nvSpPr>
        <p:spPr>
          <a:xfrm>
            <a:off x="594360" y="566928"/>
            <a:ext cx="10515600" cy="548640"/>
          </a:xfrm>
          <a:prstGeom prst="rect">
            <a:avLst/>
          </a:prstGeom>
          <a:noFill/>
        </p:spPr>
        <p:txBody>
          <a:bodyPr wrap="square" anchor="ctr">
            <a:spAutoFit/>
          </a:bodyPr>
          <a:lstStyle/>
          <a:p>
            <a:pPr algn="l">
              <a:defRPr sz="2800" b="1">
                <a:solidFill>
                  <a:srgbClr val="131F3D"/>
                </a:solidFill>
              </a:defRPr>
            </a:pPr>
            <a:r>
              <a:t>Benefits of the Project</a:t>
            </a:r>
          </a:p>
        </p:txBody>
      </p:sp>
      <p:sp>
        <p:nvSpPr>
          <p:cNvPr id="5" name="TextBox 4"/>
          <p:cNvSpPr txBox="1"/>
          <p:nvPr/>
        </p:nvSpPr>
        <p:spPr>
          <a:xfrm>
            <a:off x="11155680" y="6419088"/>
            <a:ext cx="457200" cy="228600"/>
          </a:xfrm>
          <a:prstGeom prst="rect">
            <a:avLst/>
          </a:prstGeom>
          <a:noFill/>
        </p:spPr>
        <p:txBody>
          <a:bodyPr wrap="square" anchor="ctr">
            <a:spAutoFit/>
          </a:bodyPr>
          <a:lstStyle/>
          <a:p>
            <a:pPr algn="r">
              <a:defRPr sz="1000" b="1">
                <a:solidFill>
                  <a:srgbClr val="646E7D"/>
                </a:solidFill>
              </a:defRPr>
            </a:pPr>
            <a:r>
              <a:t>10</a:t>
            </a:r>
          </a:p>
        </p:txBody>
      </p:sp>
      <p:sp>
        <p:nvSpPr>
          <p:cNvPr id="6" name="Rounded Rectangle 5"/>
          <p:cNvSpPr/>
          <p:nvPr/>
        </p:nvSpPr>
        <p:spPr>
          <a:xfrm>
            <a:off x="640080" y="1371600"/>
            <a:ext cx="3246120" cy="1783080"/>
          </a:xfrm>
          <a:prstGeom prst="roundRect">
            <a:avLst/>
          </a:prstGeom>
          <a:solidFill>
            <a:srgbClr val="FFFFFF"/>
          </a:solidFill>
          <a:ln>
            <a:solidFill>
              <a:srgbClr val="DE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371600"/>
            <a:ext cx="73152" cy="1783080"/>
          </a:xfrm>
          <a:prstGeom prst="rect">
            <a:avLst/>
          </a:prstGeom>
          <a:solidFill>
            <a:srgbClr val="267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536192"/>
            <a:ext cx="2834639" cy="320040"/>
          </a:xfrm>
          <a:prstGeom prst="rect">
            <a:avLst/>
          </a:prstGeom>
          <a:noFill/>
        </p:spPr>
        <p:txBody>
          <a:bodyPr wrap="square" anchor="ctr">
            <a:spAutoFit/>
          </a:bodyPr>
          <a:lstStyle/>
          <a:p>
            <a:pPr algn="l">
              <a:defRPr sz="1500" b="1">
                <a:solidFill>
                  <a:srgbClr val="131F3D"/>
                </a:solidFill>
              </a:defRPr>
            </a:pPr>
            <a:r>
              <a:t>CUSTOMER BENEFITS</a:t>
            </a:r>
          </a:p>
        </p:txBody>
      </p:sp>
      <p:sp>
        <p:nvSpPr>
          <p:cNvPr id="9" name="TextBox 8"/>
          <p:cNvSpPr txBox="1"/>
          <p:nvPr/>
        </p:nvSpPr>
        <p:spPr>
          <a:xfrm>
            <a:off x="868680" y="1938528"/>
            <a:ext cx="2834639" cy="1124712"/>
          </a:xfrm>
          <a:prstGeom prst="rect">
            <a:avLst/>
          </a:prstGeom>
          <a:noFill/>
        </p:spPr>
        <p:txBody>
          <a:bodyPr wrap="square" anchor="ctr">
            <a:spAutoFit/>
          </a:bodyPr>
          <a:lstStyle/>
          <a:p>
            <a:pPr algn="l">
              <a:defRPr sz="1150" b="0">
                <a:solidFill>
                  <a:srgbClr val="646E7D"/>
                </a:solidFill>
              </a:defRPr>
            </a:pPr>
            <a:r>
              <a:t>Shopping from anywhere; easy browsing; product information; convenient cart and checkout.</a:t>
            </a:r>
          </a:p>
        </p:txBody>
      </p:sp>
      <p:sp>
        <p:nvSpPr>
          <p:cNvPr id="10" name="Rounded Rectangle 9"/>
          <p:cNvSpPr/>
          <p:nvPr/>
        </p:nvSpPr>
        <p:spPr>
          <a:xfrm>
            <a:off x="4389120" y="1371600"/>
            <a:ext cx="3246120" cy="1783080"/>
          </a:xfrm>
          <a:prstGeom prst="roundRect">
            <a:avLst/>
          </a:prstGeom>
          <a:solidFill>
            <a:srgbClr val="FFFFFF"/>
          </a:solidFill>
          <a:ln>
            <a:solidFill>
              <a:srgbClr val="DE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371600"/>
            <a:ext cx="73152" cy="1783080"/>
          </a:xfrm>
          <a:prstGeom prst="rect">
            <a:avLst/>
          </a:prstGeom>
          <a:solidFill>
            <a:srgbClr val="22B7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17720" y="1536192"/>
            <a:ext cx="2834639" cy="320040"/>
          </a:xfrm>
          <a:prstGeom prst="rect">
            <a:avLst/>
          </a:prstGeom>
          <a:noFill/>
        </p:spPr>
        <p:txBody>
          <a:bodyPr wrap="square" anchor="ctr">
            <a:spAutoFit/>
          </a:bodyPr>
          <a:lstStyle/>
          <a:p>
            <a:pPr algn="l">
              <a:defRPr sz="1500" b="1">
                <a:solidFill>
                  <a:srgbClr val="131F3D"/>
                </a:solidFill>
              </a:defRPr>
            </a:pPr>
            <a:r>
              <a:t>TIME SAVING</a:t>
            </a:r>
          </a:p>
        </p:txBody>
      </p:sp>
      <p:sp>
        <p:nvSpPr>
          <p:cNvPr id="13" name="TextBox 12"/>
          <p:cNvSpPr txBox="1"/>
          <p:nvPr/>
        </p:nvSpPr>
        <p:spPr>
          <a:xfrm>
            <a:off x="4617720" y="1938528"/>
            <a:ext cx="2834639" cy="1124712"/>
          </a:xfrm>
          <a:prstGeom prst="rect">
            <a:avLst/>
          </a:prstGeom>
          <a:noFill/>
        </p:spPr>
        <p:txBody>
          <a:bodyPr wrap="square" anchor="ctr">
            <a:spAutoFit/>
          </a:bodyPr>
          <a:lstStyle/>
          <a:p>
            <a:pPr algn="l">
              <a:defRPr sz="1150" b="0">
                <a:solidFill>
                  <a:srgbClr val="646E7D"/>
                </a:solidFill>
              </a:defRPr>
            </a:pPr>
            <a:r>
              <a:t>Simplifies product discovery and reduces unnecessary store visits.</a:t>
            </a:r>
          </a:p>
        </p:txBody>
      </p:sp>
      <p:sp>
        <p:nvSpPr>
          <p:cNvPr id="14" name="Rounded Rectangle 13"/>
          <p:cNvSpPr/>
          <p:nvPr/>
        </p:nvSpPr>
        <p:spPr>
          <a:xfrm>
            <a:off x="8138159" y="1371600"/>
            <a:ext cx="3246120" cy="1783080"/>
          </a:xfrm>
          <a:prstGeom prst="roundRect">
            <a:avLst/>
          </a:prstGeom>
          <a:solidFill>
            <a:srgbClr val="FFFFFF"/>
          </a:solidFill>
          <a:ln>
            <a:solidFill>
              <a:srgbClr val="DE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38159" y="1371600"/>
            <a:ext cx="73152" cy="1783080"/>
          </a:xfrm>
          <a:prstGeom prst="rect">
            <a:avLst/>
          </a:prstGeom>
          <a:solidFill>
            <a:srgbClr val="755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66759" y="1536192"/>
            <a:ext cx="2834639" cy="320040"/>
          </a:xfrm>
          <a:prstGeom prst="rect">
            <a:avLst/>
          </a:prstGeom>
          <a:noFill/>
        </p:spPr>
        <p:txBody>
          <a:bodyPr wrap="square" anchor="ctr">
            <a:spAutoFit/>
          </a:bodyPr>
          <a:lstStyle/>
          <a:p>
            <a:pPr algn="l">
              <a:defRPr sz="1500" b="1">
                <a:solidFill>
                  <a:srgbClr val="131F3D"/>
                </a:solidFill>
              </a:defRPr>
            </a:pPr>
            <a:r>
              <a:t>BUSINESS BENEFITS</a:t>
            </a:r>
          </a:p>
        </p:txBody>
      </p:sp>
      <p:sp>
        <p:nvSpPr>
          <p:cNvPr id="17" name="TextBox 16"/>
          <p:cNvSpPr txBox="1"/>
          <p:nvPr/>
        </p:nvSpPr>
        <p:spPr>
          <a:xfrm>
            <a:off x="8366759" y="1938528"/>
            <a:ext cx="2834639" cy="1124712"/>
          </a:xfrm>
          <a:prstGeom prst="rect">
            <a:avLst/>
          </a:prstGeom>
          <a:noFill/>
        </p:spPr>
        <p:txBody>
          <a:bodyPr wrap="square" anchor="ctr">
            <a:spAutoFit/>
          </a:bodyPr>
          <a:lstStyle/>
          <a:p>
            <a:pPr algn="l">
              <a:defRPr sz="1150" b="0">
                <a:solidFill>
                  <a:srgbClr val="646E7D"/>
                </a:solidFill>
              </a:defRPr>
            </a:pPr>
            <a:r>
              <a:t>A digital storefront can present many products in an organized way.</a:t>
            </a:r>
          </a:p>
        </p:txBody>
      </p:sp>
      <p:sp>
        <p:nvSpPr>
          <p:cNvPr id="18" name="Rounded Rectangle 17"/>
          <p:cNvSpPr/>
          <p:nvPr/>
        </p:nvSpPr>
        <p:spPr>
          <a:xfrm>
            <a:off x="640080" y="3520440"/>
            <a:ext cx="3246120" cy="1783080"/>
          </a:xfrm>
          <a:prstGeom prst="roundRect">
            <a:avLst/>
          </a:prstGeom>
          <a:solidFill>
            <a:srgbClr val="FFFFFF"/>
          </a:solidFill>
          <a:ln>
            <a:solidFill>
              <a:srgbClr val="DE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40080" y="3520440"/>
            <a:ext cx="73152" cy="1783080"/>
          </a:xfrm>
          <a:prstGeom prst="rect">
            <a:avLst/>
          </a:prstGeom>
          <a:solidFill>
            <a:srgbClr val="F28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3685032"/>
            <a:ext cx="2834639" cy="320040"/>
          </a:xfrm>
          <a:prstGeom prst="rect">
            <a:avLst/>
          </a:prstGeom>
          <a:noFill/>
        </p:spPr>
        <p:txBody>
          <a:bodyPr wrap="square" anchor="ctr">
            <a:spAutoFit/>
          </a:bodyPr>
          <a:lstStyle/>
          <a:p>
            <a:pPr algn="l">
              <a:defRPr sz="1500" b="1">
                <a:solidFill>
                  <a:srgbClr val="131F3D"/>
                </a:solidFill>
              </a:defRPr>
            </a:pPr>
            <a:r>
              <a:t>AUTOMATION</a:t>
            </a:r>
          </a:p>
        </p:txBody>
      </p:sp>
      <p:sp>
        <p:nvSpPr>
          <p:cNvPr id="21" name="TextBox 20"/>
          <p:cNvSpPr txBox="1"/>
          <p:nvPr/>
        </p:nvSpPr>
        <p:spPr>
          <a:xfrm>
            <a:off x="868680" y="4087368"/>
            <a:ext cx="2834639" cy="1124712"/>
          </a:xfrm>
          <a:prstGeom prst="rect">
            <a:avLst/>
          </a:prstGeom>
          <a:noFill/>
        </p:spPr>
        <p:txBody>
          <a:bodyPr wrap="square" anchor="ctr">
            <a:spAutoFit/>
          </a:bodyPr>
          <a:lstStyle/>
          <a:p>
            <a:pPr algn="l">
              <a:defRPr sz="1150" b="0">
                <a:solidFill>
                  <a:srgbClr val="646E7D"/>
                </a:solidFill>
              </a:defRPr>
            </a:pPr>
            <a:r>
              <a:t>Cart totals and basic calculations are handled automatically.</a:t>
            </a:r>
          </a:p>
        </p:txBody>
      </p:sp>
      <p:sp>
        <p:nvSpPr>
          <p:cNvPr id="22" name="Rounded Rectangle 21"/>
          <p:cNvSpPr/>
          <p:nvPr/>
        </p:nvSpPr>
        <p:spPr>
          <a:xfrm>
            <a:off x="4389120" y="3520440"/>
            <a:ext cx="3246120" cy="1783080"/>
          </a:xfrm>
          <a:prstGeom prst="roundRect">
            <a:avLst/>
          </a:prstGeom>
          <a:solidFill>
            <a:srgbClr val="FFFFFF"/>
          </a:solidFill>
          <a:ln>
            <a:solidFill>
              <a:srgbClr val="DE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89120" y="3520440"/>
            <a:ext cx="73152" cy="1783080"/>
          </a:xfrm>
          <a:prstGeom prst="rect">
            <a:avLst/>
          </a:prstGeom>
          <a:solidFill>
            <a:srgbClr val="31A3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17720" y="3685032"/>
            <a:ext cx="2834639" cy="320040"/>
          </a:xfrm>
          <a:prstGeom prst="rect">
            <a:avLst/>
          </a:prstGeom>
          <a:noFill/>
        </p:spPr>
        <p:txBody>
          <a:bodyPr wrap="square" anchor="ctr">
            <a:spAutoFit/>
          </a:bodyPr>
          <a:lstStyle/>
          <a:p>
            <a:pPr algn="l">
              <a:defRPr sz="1500" b="1">
                <a:solidFill>
                  <a:srgbClr val="131F3D"/>
                </a:solidFill>
              </a:defRPr>
            </a:pPr>
            <a:r>
              <a:t>USER EXPERIENCE</a:t>
            </a:r>
          </a:p>
        </p:txBody>
      </p:sp>
      <p:sp>
        <p:nvSpPr>
          <p:cNvPr id="25" name="TextBox 24"/>
          <p:cNvSpPr txBox="1"/>
          <p:nvPr/>
        </p:nvSpPr>
        <p:spPr>
          <a:xfrm>
            <a:off x="4617720" y="4087368"/>
            <a:ext cx="2834639" cy="1124712"/>
          </a:xfrm>
          <a:prstGeom prst="rect">
            <a:avLst/>
          </a:prstGeom>
          <a:noFill/>
        </p:spPr>
        <p:txBody>
          <a:bodyPr wrap="square" anchor="ctr">
            <a:spAutoFit/>
          </a:bodyPr>
          <a:lstStyle/>
          <a:p>
            <a:pPr algn="l">
              <a:defRPr sz="1150" b="0">
                <a:solidFill>
                  <a:srgbClr val="646E7D"/>
                </a:solidFill>
              </a:defRPr>
            </a:pPr>
            <a:r>
              <a:t>Responsive design and clear navigation improve usability.</a:t>
            </a:r>
          </a:p>
        </p:txBody>
      </p:sp>
      <p:sp>
        <p:nvSpPr>
          <p:cNvPr id="26" name="Rounded Rectangle 25"/>
          <p:cNvSpPr/>
          <p:nvPr/>
        </p:nvSpPr>
        <p:spPr>
          <a:xfrm>
            <a:off x="8138159" y="3520440"/>
            <a:ext cx="3246120" cy="1783080"/>
          </a:xfrm>
          <a:prstGeom prst="roundRect">
            <a:avLst/>
          </a:prstGeom>
          <a:solidFill>
            <a:srgbClr val="FFFFFF"/>
          </a:solidFill>
          <a:ln>
            <a:solidFill>
              <a:srgbClr val="DE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138159" y="3520440"/>
            <a:ext cx="73152" cy="1783080"/>
          </a:xfrm>
          <a:prstGeom prst="rect">
            <a:avLst/>
          </a:prstGeom>
          <a:solidFill>
            <a:srgbClr val="131F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66759" y="3685032"/>
            <a:ext cx="2834639" cy="320040"/>
          </a:xfrm>
          <a:prstGeom prst="rect">
            <a:avLst/>
          </a:prstGeom>
          <a:noFill/>
        </p:spPr>
        <p:txBody>
          <a:bodyPr wrap="square" anchor="ctr">
            <a:spAutoFit/>
          </a:bodyPr>
          <a:lstStyle/>
          <a:p>
            <a:pPr algn="l">
              <a:defRPr sz="1500" b="1">
                <a:solidFill>
                  <a:srgbClr val="131F3D"/>
                </a:solidFill>
              </a:defRPr>
            </a:pPr>
            <a:r>
              <a:t>LEARNING BENEFITS</a:t>
            </a:r>
          </a:p>
        </p:txBody>
      </p:sp>
      <p:sp>
        <p:nvSpPr>
          <p:cNvPr id="29" name="TextBox 28"/>
          <p:cNvSpPr txBox="1"/>
          <p:nvPr/>
        </p:nvSpPr>
        <p:spPr>
          <a:xfrm>
            <a:off x="8366759" y="4087368"/>
            <a:ext cx="2834639" cy="1124712"/>
          </a:xfrm>
          <a:prstGeom prst="rect">
            <a:avLst/>
          </a:prstGeom>
          <a:noFill/>
        </p:spPr>
        <p:txBody>
          <a:bodyPr wrap="square" anchor="ctr">
            <a:spAutoFit/>
          </a:bodyPr>
          <a:lstStyle/>
          <a:p>
            <a:pPr algn="l">
              <a:defRPr sz="1150" b="0">
                <a:solidFill>
                  <a:srgbClr val="646E7D"/>
                </a:solidFill>
              </a:defRPr>
            </a:pPr>
            <a:r>
              <a:t>Demonstrates practical HTML, CSS, JavaScript and GitHub skills.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pic>
        <p:nvPicPr>
          <p:cNvPr id="74" name="Picture 73">
            <a:extLst>
              <a:ext uri="{FF2B5EF4-FFF2-40B4-BE49-F238E27FC236}">
                <a16:creationId xmlns:a16="http://schemas.microsoft.com/office/drawing/2014/main" id="{537B6966-330F-D400-7E39-53531C44BD13}"/>
              </a:ext>
            </a:extLst>
          </p:cNvPr>
          <p:cNvPicPr>
            <a:picLocks noChangeAspect="1"/>
          </p:cNvPicPr>
          <p:nvPr/>
        </p:nvPicPr>
        <p:blipFill>
          <a:blip r:embed="rId2"/>
          <a:stretch>
            <a:fillRect/>
          </a:stretch>
        </p:blipFill>
        <p:spPr>
          <a:xfrm>
            <a:off x="1482291" y="92286"/>
            <a:ext cx="9423132" cy="645289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31F3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2B7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49808" y="678656"/>
            <a:ext cx="10698480" cy="502920"/>
          </a:xfrm>
          <a:prstGeom prst="rect">
            <a:avLst/>
          </a:prstGeom>
          <a:noFill/>
        </p:spPr>
        <p:txBody>
          <a:bodyPr wrap="square" anchor="ctr">
            <a:spAutoFit/>
          </a:bodyPr>
          <a:lstStyle/>
          <a:p>
            <a:pPr algn="ctr">
              <a:defRPr sz="3200" b="1">
                <a:solidFill>
                  <a:srgbClr val="FFFFFF"/>
                </a:solidFill>
              </a:defRPr>
            </a:pPr>
            <a:r>
              <a:t>CONCLUSION</a:t>
            </a:r>
          </a:p>
        </p:txBody>
      </p:sp>
      <p:sp>
        <p:nvSpPr>
          <p:cNvPr id="4" name="TextBox 3"/>
          <p:cNvSpPr txBox="1"/>
          <p:nvPr/>
        </p:nvSpPr>
        <p:spPr>
          <a:xfrm>
            <a:off x="1188720" y="1410176"/>
            <a:ext cx="9875520" cy="1477328"/>
          </a:xfrm>
          <a:prstGeom prst="rect">
            <a:avLst/>
          </a:prstGeom>
          <a:noFill/>
        </p:spPr>
        <p:txBody>
          <a:bodyPr wrap="square" anchor="ctr">
            <a:spAutoFit/>
          </a:bodyPr>
          <a:lstStyle/>
          <a:p>
            <a:endParaRPr lang="en-IN" dirty="0">
              <a:solidFill>
                <a:schemeClr val="bg1"/>
              </a:solidFill>
            </a:endParaRPr>
          </a:p>
          <a:p>
            <a:r>
              <a:rPr lang="en-IN" dirty="0" err="1">
                <a:solidFill>
                  <a:schemeClr val="bg1"/>
                </a:solidFill>
              </a:rPr>
              <a:t>FlipShop</a:t>
            </a:r>
            <a:r>
              <a:rPr lang="en-IN" dirty="0">
                <a:solidFill>
                  <a:schemeClr val="bg1"/>
                </a:solidFill>
              </a:rPr>
              <a:t> is a user-friendly online shopping website. It makes shopping easier by providing product search, product details, cart management, billing, and checkout options in one place. Through this project, we learned how HTML, CSS, and JavaScript work together to create an interactive e-commerce website.</a:t>
            </a:r>
          </a:p>
        </p:txBody>
      </p:sp>
      <p:sp>
        <p:nvSpPr>
          <p:cNvPr id="5" name="Rounded Rectangle 4"/>
          <p:cNvSpPr/>
          <p:nvPr/>
        </p:nvSpPr>
        <p:spPr>
          <a:xfrm>
            <a:off x="1645920" y="2971800"/>
            <a:ext cx="8869680" cy="1051560"/>
          </a:xfrm>
          <a:prstGeom prst="roundRect">
            <a:avLst/>
          </a:prstGeom>
          <a:solidFill>
            <a:srgbClr val="1E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0" y="3264408"/>
            <a:ext cx="8503920" cy="457200"/>
          </a:xfrm>
          <a:prstGeom prst="rect">
            <a:avLst/>
          </a:prstGeom>
          <a:noFill/>
        </p:spPr>
        <p:txBody>
          <a:bodyPr wrap="square" anchor="ctr">
            <a:spAutoFit/>
          </a:bodyPr>
          <a:lstStyle/>
          <a:p>
            <a:pPr algn="ctr">
              <a:defRPr sz="2100" b="1">
                <a:solidFill>
                  <a:srgbClr val="FFFFFF"/>
                </a:solidFill>
              </a:defRPr>
            </a:pPr>
            <a:r>
              <a:t>HTML  →  CSS  →  JavaScript  →  GitHub</a:t>
            </a:r>
          </a:p>
        </p:txBody>
      </p:sp>
      <p:sp>
        <p:nvSpPr>
          <p:cNvPr id="7" name="TextBox 6"/>
          <p:cNvSpPr txBox="1"/>
          <p:nvPr/>
        </p:nvSpPr>
        <p:spPr>
          <a:xfrm>
            <a:off x="1097280" y="4526280"/>
            <a:ext cx="9966960" cy="457200"/>
          </a:xfrm>
          <a:prstGeom prst="rect">
            <a:avLst/>
          </a:prstGeom>
          <a:noFill/>
        </p:spPr>
        <p:txBody>
          <a:bodyPr wrap="square" anchor="ctr">
            <a:spAutoFit/>
          </a:bodyPr>
          <a:lstStyle/>
          <a:p>
            <a:pPr algn="ctr">
              <a:defRPr sz="1700" b="1">
                <a:solidFill>
                  <a:srgbClr val="22B7CB"/>
                </a:solidFill>
              </a:defRPr>
            </a:pPr>
            <a:r>
              <a:rPr dirty="0"/>
              <a:t>Benefits: Convenience • Automation • Responsive UI • Team Collaboration</a:t>
            </a:r>
          </a:p>
        </p:txBody>
      </p:sp>
      <p:sp>
        <p:nvSpPr>
          <p:cNvPr id="8" name="TextBox 7"/>
          <p:cNvSpPr txBox="1"/>
          <p:nvPr/>
        </p:nvSpPr>
        <p:spPr>
          <a:xfrm>
            <a:off x="2743200" y="5212080"/>
            <a:ext cx="6675120" cy="594360"/>
          </a:xfrm>
          <a:prstGeom prst="rect">
            <a:avLst/>
          </a:prstGeom>
          <a:noFill/>
        </p:spPr>
        <p:txBody>
          <a:bodyPr wrap="square" anchor="ctr">
            <a:spAutoFit/>
          </a:bodyPr>
          <a:lstStyle/>
          <a:p>
            <a:pPr algn="ctr">
              <a:defRPr sz="3200" b="1">
                <a:solidFill>
                  <a:srgbClr val="FFFFFF"/>
                </a:solidFill>
              </a:defRPr>
            </a:pPr>
            <a:r>
              <a:t>THANK YOU</a:t>
            </a:r>
          </a:p>
        </p:txBody>
      </p:sp>
      <p:sp>
        <p:nvSpPr>
          <p:cNvPr id="9" name="TextBox 8"/>
          <p:cNvSpPr txBox="1"/>
          <p:nvPr/>
        </p:nvSpPr>
        <p:spPr>
          <a:xfrm>
            <a:off x="2533650" y="5760720"/>
            <a:ext cx="6675120" cy="320040"/>
          </a:xfrm>
          <a:prstGeom prst="rect">
            <a:avLst/>
          </a:prstGeom>
          <a:noFill/>
        </p:spPr>
        <p:txBody>
          <a:bodyPr wrap="square" anchor="ctr">
            <a:spAutoFit/>
          </a:bodyPr>
          <a:lstStyle/>
          <a:p>
            <a:pPr algn="ctr">
              <a:defRPr sz="1500" b="0">
                <a:solidFill>
                  <a:srgbClr val="BED7FF"/>
                </a:solidFill>
              </a:defRPr>
            </a:pPr>
            <a:r>
              <a:t>Questions &amp; Discussion</a:t>
            </a:r>
          </a:p>
        </p:txBody>
      </p:sp>
      <p:sp>
        <p:nvSpPr>
          <p:cNvPr id="10" name="TextBox 9">
            <a:extLst>
              <a:ext uri="{FF2B5EF4-FFF2-40B4-BE49-F238E27FC236}">
                <a16:creationId xmlns:a16="http://schemas.microsoft.com/office/drawing/2014/main" id="{B33118D5-2457-B980-A3D0-3175CB1D04CF}"/>
              </a:ext>
            </a:extLst>
          </p:cNvPr>
          <p:cNvSpPr txBox="1"/>
          <p:nvPr/>
        </p:nvSpPr>
        <p:spPr>
          <a:xfrm>
            <a:off x="3931920" y="6179344"/>
            <a:ext cx="7332437" cy="369332"/>
          </a:xfrm>
          <a:prstGeom prst="rect">
            <a:avLst/>
          </a:prstGeom>
          <a:noFill/>
        </p:spPr>
        <p:txBody>
          <a:bodyPr wrap="square" rtlCol="0">
            <a:spAutoFit/>
          </a:bodyPr>
          <a:lstStyle/>
          <a:p>
            <a:r>
              <a:rPr lang="en-IN" dirty="0">
                <a:hlinkClick r:id="rId2"/>
              </a:rPr>
              <a:t>https://splendorous-kleicha-9a62f1.netlify.app/</a:t>
            </a:r>
            <a:endParaRPr lang="en-IN" dirty="0"/>
          </a:p>
        </p:txBody>
      </p:sp>
    </p:spTree>
  </p:cSld>
  <p:clrMapOvr>
    <a:masterClrMapping/>
  </p:clrMapOvr>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B93026-B8A4-4FE9-8E48-8009734911E7}" vid="{E43B60F7-EC4F-4A08-AFF5-BDC94162E533}"/>
    </a:ext>
  </a:extLst>
</a:theme>
</file>

<file path=docProps/app.xml><?xml version="1.0" encoding="utf-8"?>
<Properties xmlns="http://schemas.openxmlformats.org/officeDocument/2006/extended-properties" xmlns:vt="http://schemas.openxmlformats.org/officeDocument/2006/docPropsVTypes">
  <Template>TM16401375[[fn=Madison]]</Template>
  <TotalTime>136</TotalTime>
  <Words>537</Words>
  <Application>Microsoft Office PowerPoint</Application>
  <PresentationFormat>Widescreen</PresentationFormat>
  <Paragraphs>116</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Neue Haas Grotesk Text Pro</vt:lpstr>
      <vt:lpstr>Helena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Aarohan</cp:lastModifiedBy>
  <cp:revision>13</cp:revision>
  <dcterms:created xsi:type="dcterms:W3CDTF">2013-01-27T09:14:16Z</dcterms:created>
  <dcterms:modified xsi:type="dcterms:W3CDTF">2026-09-19T11:22:38Z</dcterms:modified>
  <cp:category/>
</cp:coreProperties>
</file>